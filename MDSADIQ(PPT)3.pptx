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rimo" panose="020B0604020202020204" charset="0"/>
      <p:regular r:id="rId22"/>
    </p:embeddedFont>
    <p:embeddedFont>
      <p:font typeface="Century Gothic Paneuropean Bold" panose="020B0604020202020204" charset="0"/>
      <p:regular r:id="rId23"/>
    </p:embeddedFont>
    <p:embeddedFont>
      <p:font typeface="Arimo Bold" panose="020B0604020202020204" charset="0"/>
      <p:regular r:id="rId24"/>
    </p:embeddedFont>
    <p:embeddedFont>
      <p:font typeface="Century Gothic Paneuropean" panose="020B0604020202020204" charset="0"/>
      <p:regular r:id="rId25"/>
    </p:embeddedFont>
    <p:embeddedFont>
      <p:font typeface="Century Gothic" panose="020B0502020202020204" pitchFamily="34" charset="0"/>
      <p:regular r:id="rId26"/>
      <p:bold r:id="rId27"/>
      <p:italic r:id="rId28"/>
      <p:boldItalic r:id="rId29"/>
    </p:embeddedFont>
    <p:embeddedFont>
      <p:font typeface="Calibri (MS)" panose="020B0604020202020204" charset="0"/>
      <p:regular r:id="rId30"/>
    </p:embeddedFont>
    <p:embeddedFont>
      <p:font typeface="Calibri" panose="020F0502020204030204"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08" autoAdjust="0"/>
  </p:normalViewPr>
  <p:slideViewPr>
    <p:cSldViewPr>
      <p:cViewPr>
        <p:scale>
          <a:sx n="55" d="100"/>
          <a:sy n="55" d="100"/>
        </p:scale>
        <p:origin x="65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sp>
        <p:nvSpPr>
          <p:cNvPr id="8" name="AutoShape 8"/>
          <p:cNvSpPr/>
          <p:nvPr/>
        </p:nvSpPr>
        <p:spPr>
          <a:xfrm rot="8100000">
            <a:off x="11144936" y="2865434"/>
            <a:ext cx="8109175" cy="0"/>
          </a:xfrm>
          <a:prstGeom prst="line">
            <a:avLst/>
          </a:prstGeom>
          <a:ln w="9525" cap="rnd">
            <a:solidFill>
              <a:srgbClr val="FFFFFF"/>
            </a:solidFill>
            <a:prstDash val="solid"/>
            <a:headEnd type="none" w="sm" len="sm"/>
            <a:tailEnd type="none" w="sm" len="sm"/>
          </a:ln>
        </p:spPr>
      </p:sp>
      <p:sp>
        <p:nvSpPr>
          <p:cNvPr id="9" name="AutoShape 9"/>
          <p:cNvSpPr/>
          <p:nvPr/>
        </p:nvSpPr>
        <p:spPr>
          <a:xfrm rot="8100000">
            <a:off x="7259764" y="4693044"/>
            <a:ext cx="12925958" cy="0"/>
          </a:xfrm>
          <a:prstGeom prst="line">
            <a:avLst/>
          </a:prstGeom>
          <a:ln w="9525" cap="rnd">
            <a:solidFill>
              <a:srgbClr val="FFFFFF"/>
            </a:solidFill>
            <a:prstDash val="solid"/>
            <a:headEnd type="none" w="sm" len="sm"/>
            <a:tailEnd type="none" w="sm" len="sm"/>
          </a:ln>
        </p:spPr>
      </p:sp>
      <p:sp>
        <p:nvSpPr>
          <p:cNvPr id="10" name="AutoShape 10"/>
          <p:cNvSpPr/>
          <p:nvPr/>
        </p:nvSpPr>
        <p:spPr>
          <a:xfrm rot="8100000">
            <a:off x="9301563" y="4052888"/>
            <a:ext cx="10533840" cy="0"/>
          </a:xfrm>
          <a:prstGeom prst="line">
            <a:avLst/>
          </a:prstGeom>
          <a:ln w="9525" cap="rnd">
            <a:solidFill>
              <a:srgbClr val="FFFFFF"/>
            </a:solidFill>
            <a:prstDash val="solid"/>
            <a:headEnd type="none" w="sm" len="sm"/>
            <a:tailEnd type="none" w="sm" len="sm"/>
          </a:ln>
        </p:spPr>
      </p:sp>
      <p:sp>
        <p:nvSpPr>
          <p:cNvPr id="11" name="AutoShape 11"/>
          <p:cNvSpPr/>
          <p:nvPr/>
        </p:nvSpPr>
        <p:spPr>
          <a:xfrm rot="8100000">
            <a:off x="9462449" y="3673869"/>
            <a:ext cx="10362095" cy="0"/>
          </a:xfrm>
          <a:prstGeom prst="line">
            <a:avLst/>
          </a:prstGeom>
          <a:ln w="28575" cap="rnd">
            <a:solidFill>
              <a:srgbClr val="FFFFFF"/>
            </a:solidFill>
            <a:prstDash val="solid"/>
            <a:headEnd type="none" w="sm" len="sm"/>
            <a:tailEnd type="none" w="sm" len="sm"/>
          </a:ln>
        </p:spPr>
      </p:sp>
      <p:sp>
        <p:nvSpPr>
          <p:cNvPr id="12" name="AutoShape 12"/>
          <p:cNvSpPr/>
          <p:nvPr/>
        </p:nvSpPr>
        <p:spPr>
          <a:xfrm rot="8100000">
            <a:off x="10385146" y="4157662"/>
            <a:ext cx="9281093" cy="0"/>
          </a:xfrm>
          <a:prstGeom prst="line">
            <a:avLst/>
          </a:prstGeom>
          <a:ln w="28575" cap="rnd">
            <a:solidFill>
              <a:srgbClr val="FFFFFF"/>
            </a:solidFill>
            <a:prstDash val="solid"/>
            <a:headEnd type="none" w="sm" len="sm"/>
            <a:tailEnd type="none" w="sm" len="sm"/>
          </a:ln>
        </p:spPr>
      </p:sp>
      <p:grpSp>
        <p:nvGrpSpPr>
          <p:cNvPr id="13" name="Group 13"/>
          <p:cNvGrpSpPr/>
          <p:nvPr/>
        </p:nvGrpSpPr>
        <p:grpSpPr>
          <a:xfrm>
            <a:off x="6207046" y="1872507"/>
            <a:ext cx="9436177" cy="2565350"/>
            <a:chOff x="0" y="0"/>
            <a:chExt cx="12581570" cy="3420467"/>
          </a:xfrm>
        </p:grpSpPr>
        <p:sp>
          <p:nvSpPr>
            <p:cNvPr id="14" name="Freeform 14"/>
            <p:cNvSpPr/>
            <p:nvPr/>
          </p:nvSpPr>
          <p:spPr>
            <a:xfrm>
              <a:off x="0" y="0"/>
              <a:ext cx="12581568" cy="3420469"/>
            </a:xfrm>
            <a:custGeom>
              <a:avLst/>
              <a:gdLst/>
              <a:ahLst/>
              <a:cxnLst/>
              <a:rect l="l" t="t" r="r" b="b"/>
              <a:pathLst>
                <a:path w="12581568" h="3420469">
                  <a:moveTo>
                    <a:pt x="0" y="0"/>
                  </a:moveTo>
                  <a:lnTo>
                    <a:pt x="12581568" y="0"/>
                  </a:lnTo>
                  <a:lnTo>
                    <a:pt x="12581568" y="3420469"/>
                  </a:lnTo>
                  <a:lnTo>
                    <a:pt x="0" y="3420469"/>
                  </a:lnTo>
                  <a:close/>
                </a:path>
              </a:pathLst>
            </a:custGeom>
            <a:blipFill>
              <a:blip r:embed="rId4">
                <a:alphaModFix amt="0"/>
              </a:blip>
              <a:stretch>
                <a:fillRect t="-48076" r="-44940" b="-59687"/>
              </a:stretch>
            </a:blipFill>
          </p:spPr>
        </p:sp>
        <p:sp>
          <p:nvSpPr>
            <p:cNvPr id="15" name="TextBox 15"/>
            <p:cNvSpPr txBox="1"/>
            <p:nvPr/>
          </p:nvSpPr>
          <p:spPr>
            <a:xfrm>
              <a:off x="0" y="-28575"/>
              <a:ext cx="12581570" cy="3449042"/>
            </a:xfrm>
            <a:prstGeom prst="rect">
              <a:avLst/>
            </a:prstGeom>
          </p:spPr>
          <p:txBody>
            <a:bodyPr lIns="0" tIns="0" rIns="0" bIns="0" rtlCol="0" anchor="b"/>
            <a:lstStyle/>
            <a:p>
              <a:pPr algn="ctr">
                <a:lnSpc>
                  <a:spcPts val="8640"/>
                </a:lnSpc>
              </a:pPr>
              <a:r>
                <a:rPr lang="en-US" sz="7200" b="1">
                  <a:solidFill>
                    <a:srgbClr val="FF0000"/>
                  </a:solidFill>
                  <a:latin typeface="Arimo Bold"/>
                  <a:ea typeface="Arimo Bold"/>
                  <a:cs typeface="Arimo Bold"/>
                  <a:sym typeface="Arimo Bold"/>
                </a:rPr>
                <a:t>ASTROSAGE ANALYSIS PPT</a:t>
              </a:r>
            </a:p>
          </p:txBody>
        </p:sp>
      </p:grpSp>
      <p:grpSp>
        <p:nvGrpSpPr>
          <p:cNvPr id="16" name="Group 16"/>
          <p:cNvGrpSpPr/>
          <p:nvPr/>
        </p:nvGrpSpPr>
        <p:grpSpPr>
          <a:xfrm>
            <a:off x="1028700" y="1035262"/>
            <a:ext cx="4704940" cy="3996080"/>
            <a:chOff x="0" y="0"/>
            <a:chExt cx="6273254" cy="5328107"/>
          </a:xfrm>
        </p:grpSpPr>
        <p:sp>
          <p:nvSpPr>
            <p:cNvPr id="17" name="Freeform 17"/>
            <p:cNvSpPr/>
            <p:nvPr/>
          </p:nvSpPr>
          <p:spPr>
            <a:xfrm>
              <a:off x="0" y="0"/>
              <a:ext cx="6273292" cy="5328158"/>
            </a:xfrm>
            <a:custGeom>
              <a:avLst/>
              <a:gdLst/>
              <a:ahLst/>
              <a:cxnLst/>
              <a:rect l="l" t="t" r="r" b="b"/>
              <a:pathLst>
                <a:path w="6273292" h="5328158">
                  <a:moveTo>
                    <a:pt x="0" y="0"/>
                  </a:moveTo>
                  <a:lnTo>
                    <a:pt x="6273292" y="0"/>
                  </a:lnTo>
                  <a:lnTo>
                    <a:pt x="6273292" y="5328158"/>
                  </a:lnTo>
                  <a:lnTo>
                    <a:pt x="0" y="5328158"/>
                  </a:lnTo>
                  <a:lnTo>
                    <a:pt x="0" y="0"/>
                  </a:lnTo>
                  <a:close/>
                </a:path>
              </a:pathLst>
            </a:custGeom>
            <a:blipFill>
              <a:blip r:embed="rId5"/>
              <a:stretch>
                <a:fillRect t="-8869" b="-8868"/>
              </a:stretch>
            </a:blipFill>
          </p:spPr>
        </p:sp>
      </p:grpSp>
      <p:sp>
        <p:nvSpPr>
          <p:cNvPr id="20" name="TextBox 20"/>
          <p:cNvSpPr txBox="1"/>
          <p:nvPr/>
        </p:nvSpPr>
        <p:spPr>
          <a:xfrm>
            <a:off x="1028700" y="8380247"/>
            <a:ext cx="7850781" cy="819150"/>
          </a:xfrm>
          <a:prstGeom prst="rect">
            <a:avLst/>
          </a:prstGeom>
        </p:spPr>
        <p:txBody>
          <a:bodyPr lIns="0" tIns="0" rIns="0" bIns="0" rtlCol="0" anchor="t">
            <a:spAutoFit/>
          </a:bodyPr>
          <a:lstStyle/>
          <a:p>
            <a:pPr algn="l">
              <a:lnSpc>
                <a:spcPts val="3240"/>
              </a:lnSpc>
            </a:pPr>
            <a:r>
              <a:rPr lang="en-US" sz="2700" dirty="0">
                <a:solidFill>
                  <a:srgbClr val="FFFFFF"/>
                </a:solidFill>
                <a:latin typeface="Century Gothic Paneuropean"/>
                <a:ea typeface="Century Gothic Paneuropean"/>
                <a:cs typeface="Century Gothic Paneuropean"/>
                <a:sym typeface="Century Gothic Paneuropean"/>
              </a:rPr>
              <a:t>MOHAMMED SADIQ</a:t>
            </a:r>
          </a:p>
          <a:p>
            <a:pPr algn="l">
              <a:lnSpc>
                <a:spcPts val="3240"/>
              </a:lnSpc>
            </a:pPr>
            <a:r>
              <a:rPr lang="en-US" sz="2700" dirty="0">
                <a:solidFill>
                  <a:srgbClr val="FFFFFF"/>
                </a:solidFill>
                <a:latin typeface="Century Gothic Paneuropean"/>
                <a:ea typeface="Century Gothic Paneuropean"/>
                <a:cs typeface="Century Gothic Paneuropean"/>
                <a:sym typeface="Century Gothic Paneuropean"/>
              </a:rPr>
              <a:t> DATE : </a:t>
            </a:r>
            <a:r>
              <a:rPr lang="en-US" sz="2700" dirty="0" smtClean="0">
                <a:solidFill>
                  <a:srgbClr val="FFFFFF"/>
                </a:solidFill>
                <a:latin typeface="Century Gothic Paneuropean"/>
                <a:ea typeface="Century Gothic Paneuropean"/>
                <a:cs typeface="Century Gothic Paneuropean"/>
                <a:sym typeface="Century Gothic Paneuropean"/>
              </a:rPr>
              <a:t>19-02-2025</a:t>
            </a:r>
            <a:endParaRPr lang="en-US" sz="2700" dirty="0">
              <a:solidFill>
                <a:srgbClr val="FFFFFF"/>
              </a:solidFill>
              <a:latin typeface="Century Gothic Paneuropean"/>
              <a:ea typeface="Century Gothic Paneuropean"/>
              <a:cs typeface="Century Gothic Paneuropean"/>
              <a:sym typeface="Century Gothic Paneurope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6173383" y="1028700"/>
            <a:ext cx="8958293" cy="1109124"/>
            <a:chOff x="0" y="0"/>
            <a:chExt cx="11944391" cy="1478832"/>
          </a:xfrm>
        </p:grpSpPr>
        <p:sp>
          <p:nvSpPr>
            <p:cNvPr id="9" name="Freeform 9"/>
            <p:cNvSpPr/>
            <p:nvPr/>
          </p:nvSpPr>
          <p:spPr>
            <a:xfrm>
              <a:off x="0" y="0"/>
              <a:ext cx="11944394" cy="1478838"/>
            </a:xfrm>
            <a:custGeom>
              <a:avLst/>
              <a:gdLst/>
              <a:ahLst/>
              <a:cxnLst/>
              <a:rect l="l" t="t" r="r" b="b"/>
              <a:pathLst>
                <a:path w="11944394" h="1478838">
                  <a:moveTo>
                    <a:pt x="0" y="0"/>
                  </a:moveTo>
                  <a:lnTo>
                    <a:pt x="11944394" y="0"/>
                  </a:lnTo>
                  <a:lnTo>
                    <a:pt x="11944394" y="1478838"/>
                  </a:lnTo>
                  <a:lnTo>
                    <a:pt x="0" y="1478838"/>
                  </a:lnTo>
                  <a:close/>
                </a:path>
              </a:pathLst>
            </a:custGeom>
            <a:blipFill>
              <a:blip r:embed="rId4">
                <a:alphaModFix amt="0"/>
              </a:blip>
              <a:stretch>
                <a:fillRect t="-257949" r="-95674" b="-257948"/>
              </a:stretch>
            </a:blipFill>
          </p:spPr>
        </p:sp>
        <p:sp>
          <p:nvSpPr>
            <p:cNvPr id="10" name="TextBox 10"/>
            <p:cNvSpPr txBox="1"/>
            <p:nvPr/>
          </p:nvSpPr>
          <p:spPr>
            <a:xfrm>
              <a:off x="0" y="-19050"/>
              <a:ext cx="11944391" cy="1497882"/>
            </a:xfrm>
            <a:prstGeom prst="rect">
              <a:avLst/>
            </a:prstGeom>
          </p:spPr>
          <p:txBody>
            <a:bodyPr lIns="0" tIns="0" rIns="0" bIns="0" rtlCol="0" anchor="ctr"/>
            <a:lstStyle/>
            <a:p>
              <a:pPr algn="ctr">
                <a:lnSpc>
                  <a:spcPts val="4800"/>
                </a:lnSpc>
              </a:pPr>
              <a:r>
                <a:rPr lang="en-US" sz="4000" b="1" dirty="0">
                  <a:solidFill>
                    <a:srgbClr val="C00000"/>
                  </a:solidFill>
                  <a:latin typeface="Arimo Bold"/>
                  <a:ea typeface="Arimo Bold"/>
                  <a:cs typeface="Arimo Bold"/>
                  <a:sym typeface="Arimo Bold"/>
                </a:rPr>
                <a:t>Introduction to </a:t>
              </a:r>
              <a:r>
                <a:rPr lang="en-US" sz="4000" b="1" dirty="0" err="1">
                  <a:solidFill>
                    <a:srgbClr val="C00000"/>
                  </a:solidFill>
                  <a:latin typeface="Arimo Bold"/>
                  <a:ea typeface="Arimo Bold"/>
                  <a:cs typeface="Arimo Bold"/>
                  <a:sym typeface="Arimo Bold"/>
                </a:rPr>
                <a:t>AstroSage</a:t>
              </a:r>
              <a:endParaRPr lang="en-US" sz="4000" b="1" dirty="0">
                <a:solidFill>
                  <a:srgbClr val="C00000"/>
                </a:solidFill>
                <a:latin typeface="Arimo Bold"/>
                <a:ea typeface="Arimo Bold"/>
                <a:cs typeface="Arimo Bold"/>
                <a:sym typeface="Arimo Bold"/>
              </a:endParaRPr>
            </a:p>
          </p:txBody>
        </p:sp>
      </p:grpSp>
      <p:sp>
        <p:nvSpPr>
          <p:cNvPr id="11" name="TextBox 11"/>
          <p:cNvSpPr txBox="1"/>
          <p:nvPr/>
        </p:nvSpPr>
        <p:spPr>
          <a:xfrm>
            <a:off x="6355994" y="2802854"/>
            <a:ext cx="10903306" cy="1143000"/>
          </a:xfrm>
          <a:prstGeom prst="rect">
            <a:avLst/>
          </a:prstGeom>
        </p:spPr>
        <p:txBody>
          <a:bodyPr lIns="0" tIns="0" rIns="0" bIns="0" rtlCol="0" anchor="t">
            <a:spAutoFit/>
          </a:bodyPr>
          <a:lstStyle/>
          <a:p>
            <a:pPr algn="l">
              <a:lnSpc>
                <a:spcPts val="3000"/>
              </a:lnSpc>
            </a:pPr>
            <a:r>
              <a:rPr lang="en-US" sz="2500" dirty="0" err="1">
                <a:solidFill>
                  <a:srgbClr val="FFFFFF"/>
                </a:solidFill>
                <a:latin typeface="Century Gothic Paneuropean"/>
                <a:ea typeface="Century Gothic Paneuropean"/>
                <a:cs typeface="Century Gothic Paneuropean"/>
                <a:sym typeface="Century Gothic Paneuropean"/>
              </a:rPr>
              <a:t>AstroSage</a:t>
            </a:r>
            <a:r>
              <a:rPr lang="en-US" sz="2500" dirty="0">
                <a:solidFill>
                  <a:srgbClr val="FFFFFF"/>
                </a:solidFill>
                <a:latin typeface="Century Gothic Paneuropean"/>
                <a:ea typeface="Century Gothic Paneuropean"/>
                <a:cs typeface="Century Gothic Paneuropean"/>
                <a:sym typeface="Century Gothic Paneuropean"/>
              </a:rPr>
              <a:t> is a website and app that provides astrology services, including calls, chat consultation data using Excel based on chart, dashboard, tables to evaluate the performance and behavior.</a:t>
            </a:r>
          </a:p>
        </p:txBody>
      </p:sp>
      <p:grpSp>
        <p:nvGrpSpPr>
          <p:cNvPr id="12" name="Group 12"/>
          <p:cNvGrpSpPr/>
          <p:nvPr/>
        </p:nvGrpSpPr>
        <p:grpSpPr>
          <a:xfrm>
            <a:off x="1028700" y="1028700"/>
            <a:ext cx="4845291" cy="3405978"/>
            <a:chOff x="0" y="0"/>
            <a:chExt cx="6460388" cy="4541304"/>
          </a:xfrm>
        </p:grpSpPr>
        <p:sp>
          <p:nvSpPr>
            <p:cNvPr id="13" name="Freeform 13"/>
            <p:cNvSpPr/>
            <p:nvPr/>
          </p:nvSpPr>
          <p:spPr>
            <a:xfrm>
              <a:off x="0" y="0"/>
              <a:ext cx="6460363" cy="4541266"/>
            </a:xfrm>
            <a:custGeom>
              <a:avLst/>
              <a:gdLst/>
              <a:ahLst/>
              <a:cxnLst/>
              <a:rect l="l" t="t" r="r" b="b"/>
              <a:pathLst>
                <a:path w="6460363" h="4541266">
                  <a:moveTo>
                    <a:pt x="0" y="0"/>
                  </a:moveTo>
                  <a:lnTo>
                    <a:pt x="6460363" y="0"/>
                  </a:lnTo>
                  <a:lnTo>
                    <a:pt x="6460363" y="4541266"/>
                  </a:lnTo>
                  <a:lnTo>
                    <a:pt x="0" y="4541266"/>
                  </a:lnTo>
                  <a:lnTo>
                    <a:pt x="0" y="0"/>
                  </a:lnTo>
                  <a:close/>
                </a:path>
              </a:pathLst>
            </a:custGeom>
            <a:blipFill>
              <a:blip r:embed="rId5"/>
              <a:stretch>
                <a:fillRect l="-2685" r="-2685"/>
              </a:stretch>
            </a:blipFill>
          </p:spPr>
        </p:sp>
      </p:grpSp>
      <p:grpSp>
        <p:nvGrpSpPr>
          <p:cNvPr id="14" name="Group 14"/>
          <p:cNvGrpSpPr/>
          <p:nvPr/>
        </p:nvGrpSpPr>
        <p:grpSpPr>
          <a:xfrm>
            <a:off x="12349553" y="5040600"/>
            <a:ext cx="4909747" cy="4224842"/>
            <a:chOff x="0" y="0"/>
            <a:chExt cx="6546329" cy="5633123"/>
          </a:xfrm>
        </p:grpSpPr>
        <p:sp>
          <p:nvSpPr>
            <p:cNvPr id="15" name="Freeform 15"/>
            <p:cNvSpPr/>
            <p:nvPr/>
          </p:nvSpPr>
          <p:spPr>
            <a:xfrm>
              <a:off x="0" y="0"/>
              <a:ext cx="6546342" cy="5633085"/>
            </a:xfrm>
            <a:custGeom>
              <a:avLst/>
              <a:gdLst/>
              <a:ahLst/>
              <a:cxnLst/>
              <a:rect l="l" t="t" r="r" b="b"/>
              <a:pathLst>
                <a:path w="6546342" h="5633085">
                  <a:moveTo>
                    <a:pt x="0" y="0"/>
                  </a:moveTo>
                  <a:lnTo>
                    <a:pt x="6546342" y="0"/>
                  </a:lnTo>
                  <a:lnTo>
                    <a:pt x="6546342" y="5633085"/>
                  </a:lnTo>
                  <a:lnTo>
                    <a:pt x="0" y="5633085"/>
                  </a:lnTo>
                  <a:lnTo>
                    <a:pt x="0" y="0"/>
                  </a:lnTo>
                  <a:close/>
                </a:path>
              </a:pathLst>
            </a:custGeom>
            <a:blipFill>
              <a:blip r:embed="rId5"/>
              <a:stretch>
                <a:fillRect l="-14493" r="-14493"/>
              </a:stretch>
            </a:blipFill>
          </p:spPr>
        </p:sp>
      </p:grpSp>
      <p:sp>
        <p:nvSpPr>
          <p:cNvPr id="16" name="TextBox 16"/>
          <p:cNvSpPr txBox="1"/>
          <p:nvPr/>
        </p:nvSpPr>
        <p:spPr>
          <a:xfrm>
            <a:off x="1028700" y="5790371"/>
            <a:ext cx="9494037" cy="1666875"/>
          </a:xfrm>
          <a:prstGeom prst="rect">
            <a:avLst/>
          </a:prstGeom>
        </p:spPr>
        <p:txBody>
          <a:bodyPr lIns="0" tIns="0" rIns="0" bIns="0" rtlCol="0" anchor="t">
            <a:spAutoFit/>
          </a:bodyPr>
          <a:lstStyle/>
          <a:p>
            <a:pPr marL="342900" indent="-342900" algn="l">
              <a:lnSpc>
                <a:spcPts val="4500"/>
              </a:lnSpc>
              <a:buFont typeface="Arial" panose="020B0604020202020204" pitchFamily="34" charset="0"/>
              <a:buChar char="•"/>
            </a:pPr>
            <a:r>
              <a:rPr lang="en-US" sz="2500" dirty="0" err="1">
                <a:solidFill>
                  <a:srgbClr val="FFFFFF"/>
                </a:solidFill>
                <a:latin typeface="Century Gothic Paneuropean"/>
                <a:ea typeface="Century Gothic Paneuropean"/>
                <a:cs typeface="Century Gothic Paneuropean"/>
                <a:sym typeface="Century Gothic Paneuropean"/>
              </a:rPr>
              <a:t>AstroSage</a:t>
            </a:r>
            <a:r>
              <a:rPr lang="en-US" sz="2500" dirty="0">
                <a:solidFill>
                  <a:srgbClr val="FFFFFF"/>
                </a:solidFill>
                <a:latin typeface="Century Gothic Paneuropean"/>
                <a:ea typeface="Century Gothic Paneuropean"/>
                <a:cs typeface="Century Gothic Paneuropean"/>
                <a:sym typeface="Century Gothic Paneuropean"/>
              </a:rPr>
              <a:t> is used by many business stakeholder such as management, operation teams and customer experience teams.</a:t>
            </a:r>
          </a:p>
        </p:txBody>
      </p:sp>
      <p:sp>
        <p:nvSpPr>
          <p:cNvPr id="17" name="TextBox 17"/>
          <p:cNvSpPr txBox="1"/>
          <p:nvPr/>
        </p:nvSpPr>
        <p:spPr>
          <a:xfrm>
            <a:off x="1028700" y="7550948"/>
            <a:ext cx="10687360" cy="1316964"/>
          </a:xfrm>
          <a:prstGeom prst="rect">
            <a:avLst/>
          </a:prstGeom>
        </p:spPr>
        <p:txBody>
          <a:bodyPr lIns="0" tIns="0" rIns="0" bIns="0" rtlCol="0" anchor="t">
            <a:spAutoFit/>
          </a:bodyPr>
          <a:lstStyle/>
          <a:p>
            <a:pPr marL="342900" indent="-342900" algn="l">
              <a:lnSpc>
                <a:spcPts val="5469"/>
              </a:lnSpc>
              <a:buFont typeface="Arial" panose="020B0604020202020204" pitchFamily="34" charset="0"/>
              <a:buChar char="•"/>
            </a:pPr>
            <a:r>
              <a:rPr lang="en-US" sz="2500" dirty="0" err="1">
                <a:solidFill>
                  <a:srgbClr val="FFFFFF"/>
                </a:solidFill>
                <a:latin typeface="Century Gothic Paneuropean"/>
                <a:ea typeface="Century Gothic Paneuropean"/>
                <a:cs typeface="Century Gothic Paneuropean"/>
                <a:sym typeface="Century Gothic Paneuropean"/>
              </a:rPr>
              <a:t>AstroSage</a:t>
            </a:r>
            <a:r>
              <a:rPr lang="en-US" sz="2500" dirty="0">
                <a:solidFill>
                  <a:srgbClr val="FFFFFF"/>
                </a:solidFill>
                <a:latin typeface="Century Gothic Paneuropean"/>
                <a:ea typeface="Century Gothic Paneuropean"/>
                <a:cs typeface="Century Gothic Paneuropean"/>
                <a:sym typeface="Century Gothic Paneuropean"/>
              </a:rPr>
              <a:t> is used to track revenue, identifying issues and decision to improvement the satisfactions of customers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028700" y="3375012"/>
            <a:ext cx="16014064" cy="3403927"/>
            <a:chOff x="0" y="0"/>
            <a:chExt cx="21352086" cy="4538569"/>
          </a:xfrm>
        </p:grpSpPr>
        <p:sp>
          <p:nvSpPr>
            <p:cNvPr id="9" name="Freeform 9"/>
            <p:cNvSpPr/>
            <p:nvPr/>
          </p:nvSpPr>
          <p:spPr>
            <a:xfrm>
              <a:off x="0" y="0"/>
              <a:ext cx="21352084" cy="4538574"/>
            </a:xfrm>
            <a:custGeom>
              <a:avLst/>
              <a:gdLst/>
              <a:ahLst/>
              <a:cxnLst/>
              <a:rect l="l" t="t" r="r" b="b"/>
              <a:pathLst>
                <a:path w="21352084" h="4538574">
                  <a:moveTo>
                    <a:pt x="0" y="0"/>
                  </a:moveTo>
                  <a:lnTo>
                    <a:pt x="21352084" y="0"/>
                  </a:lnTo>
                  <a:lnTo>
                    <a:pt x="21352084" y="4538574"/>
                  </a:lnTo>
                  <a:lnTo>
                    <a:pt x="0" y="4538574"/>
                  </a:lnTo>
                  <a:close/>
                </a:path>
              </a:pathLst>
            </a:custGeom>
            <a:blipFill>
              <a:blip r:embed="rId4">
                <a:alphaModFix amt="0"/>
              </a:blip>
              <a:stretch>
                <a:fillRect t="-53838" r="380" b="-28802"/>
              </a:stretch>
            </a:blipFill>
          </p:spPr>
        </p:sp>
        <p:sp>
          <p:nvSpPr>
            <p:cNvPr id="10" name="TextBox 10"/>
            <p:cNvSpPr txBox="1"/>
            <p:nvPr/>
          </p:nvSpPr>
          <p:spPr>
            <a:xfrm>
              <a:off x="0" y="0"/>
              <a:ext cx="21352086" cy="4538569"/>
            </a:xfrm>
            <a:prstGeom prst="rect">
              <a:avLst/>
            </a:prstGeom>
          </p:spPr>
          <p:txBody>
            <a:bodyPr lIns="0" tIns="0" rIns="0" bIns="0" rtlCol="0" anchor="ctr"/>
            <a:lstStyle/>
            <a:p>
              <a:pPr algn="just">
                <a:lnSpc>
                  <a:spcPts val="3000"/>
                </a:lnSpc>
              </a:pPr>
              <a:r>
                <a:rPr lang="en-US" sz="2500" dirty="0">
                  <a:solidFill>
                    <a:srgbClr val="FFFFFF"/>
                  </a:solidFill>
                  <a:latin typeface="Century Gothic Paneuropean"/>
                  <a:ea typeface="Century Gothic Paneuropean"/>
                  <a:cs typeface="Century Gothic Paneuropean"/>
                  <a:sym typeface="Century Gothic Paneuropean"/>
                </a:rPr>
                <a:t>You are tasked with optimizing the call center operations for </a:t>
              </a:r>
              <a:r>
                <a:rPr lang="en-US" sz="2500" dirty="0" err="1">
                  <a:solidFill>
                    <a:srgbClr val="FFFFFF"/>
                  </a:solidFill>
                  <a:latin typeface="Century Gothic Paneuropean"/>
                  <a:ea typeface="Century Gothic Paneuropean"/>
                  <a:cs typeface="Century Gothic Paneuropean"/>
                  <a:sym typeface="Century Gothic Paneuropean"/>
                </a:rPr>
                <a:t>AstroSage</a:t>
              </a:r>
              <a:r>
                <a:rPr lang="en-US" sz="2500" dirty="0">
                  <a:solidFill>
                    <a:srgbClr val="FFFFFF"/>
                  </a:solidFill>
                  <a:latin typeface="Century Gothic Paneuropean"/>
                  <a:ea typeface="Century Gothic Paneuropean"/>
                  <a:cs typeface="Century Gothic Paneuropean"/>
                  <a:sym typeface="Century Gothic Paneuropean"/>
                </a:rPr>
                <a:t>, which has received a 1 </a:t>
              </a:r>
              <a:r>
                <a:rPr lang="en-US" sz="2500" dirty="0" err="1">
                  <a:solidFill>
                    <a:srgbClr val="FFFFFF"/>
                  </a:solidFill>
                  <a:latin typeface="Century Gothic Paneuropean"/>
                  <a:ea typeface="Century Gothic Paneuropean"/>
                  <a:cs typeface="Century Gothic Paneuropean"/>
                  <a:sym typeface="Century Gothic Paneuropean"/>
                </a:rPr>
                <a:t>crore</a:t>
              </a:r>
              <a:r>
                <a:rPr lang="en-US" sz="2500" dirty="0">
                  <a:solidFill>
                    <a:srgbClr val="FFFFFF"/>
                  </a:solidFill>
                  <a:latin typeface="Century Gothic Paneuropean"/>
                  <a:ea typeface="Century Gothic Paneuropean"/>
                  <a:cs typeface="Century Gothic Paneuropean"/>
                  <a:sym typeface="Century Gothic Paneuropean"/>
                </a:rPr>
                <a:t> investment. The goal is to determine how to allocate this investment to maximize operational efficiency, customer satisfaction, and profitability. This project will involve analyzing historical call data, performance metrics, and market trends to make informed decisions.</a:t>
              </a:r>
            </a:p>
          </p:txBody>
        </p:sp>
      </p:grpSp>
      <p:grpSp>
        <p:nvGrpSpPr>
          <p:cNvPr id="11" name="Group 11"/>
          <p:cNvGrpSpPr/>
          <p:nvPr/>
        </p:nvGrpSpPr>
        <p:grpSpPr>
          <a:xfrm>
            <a:off x="1028700" y="2457198"/>
            <a:ext cx="7438920" cy="917814"/>
            <a:chOff x="0" y="0"/>
            <a:chExt cx="9918560" cy="1223752"/>
          </a:xfrm>
        </p:grpSpPr>
        <p:sp>
          <p:nvSpPr>
            <p:cNvPr id="12" name="Freeform 12"/>
            <p:cNvSpPr/>
            <p:nvPr/>
          </p:nvSpPr>
          <p:spPr>
            <a:xfrm>
              <a:off x="0" y="0"/>
              <a:ext cx="9918564" cy="1223757"/>
            </a:xfrm>
            <a:custGeom>
              <a:avLst/>
              <a:gdLst/>
              <a:ahLst/>
              <a:cxnLst/>
              <a:rect l="l" t="t" r="r" b="b"/>
              <a:pathLst>
                <a:path w="9918564" h="1223757">
                  <a:moveTo>
                    <a:pt x="0" y="0"/>
                  </a:moveTo>
                  <a:lnTo>
                    <a:pt x="9918564" y="0"/>
                  </a:lnTo>
                  <a:lnTo>
                    <a:pt x="9918564" y="1223757"/>
                  </a:lnTo>
                  <a:lnTo>
                    <a:pt x="0" y="1223757"/>
                  </a:lnTo>
                  <a:close/>
                </a:path>
              </a:pathLst>
            </a:custGeom>
            <a:blipFill>
              <a:blip r:embed="rId4">
                <a:alphaModFix amt="0"/>
              </a:blip>
              <a:stretch>
                <a:fillRect t="-107926" b="-107925"/>
              </a:stretch>
            </a:blipFill>
          </p:spPr>
        </p:sp>
        <p:sp>
          <p:nvSpPr>
            <p:cNvPr id="13" name="TextBox 13"/>
            <p:cNvSpPr txBox="1"/>
            <p:nvPr/>
          </p:nvSpPr>
          <p:spPr>
            <a:xfrm>
              <a:off x="0" y="-19050"/>
              <a:ext cx="9918560" cy="1242802"/>
            </a:xfrm>
            <a:prstGeom prst="rect">
              <a:avLst/>
            </a:prstGeom>
          </p:spPr>
          <p:txBody>
            <a:bodyPr lIns="0" tIns="0" rIns="0" bIns="0" rtlCol="0" anchor="ctr"/>
            <a:lstStyle/>
            <a:p>
              <a:pPr algn="l">
                <a:lnSpc>
                  <a:spcPts val="4800"/>
                </a:lnSpc>
              </a:pPr>
              <a:r>
                <a:rPr lang="en-US" sz="4000" b="1" dirty="0">
                  <a:solidFill>
                    <a:srgbClr val="C00000"/>
                  </a:solidFill>
                  <a:latin typeface="Arimo Bold"/>
                  <a:ea typeface="Arimo Bold"/>
                  <a:cs typeface="Arimo Bold"/>
                  <a:sym typeface="Arimo Bold"/>
                </a:rPr>
                <a:t>Problem statement</a:t>
              </a: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9495790" y="4249139"/>
            <a:ext cx="6656651" cy="3936211"/>
            <a:chOff x="0" y="0"/>
            <a:chExt cx="8875535" cy="5248282"/>
          </a:xfrm>
        </p:grpSpPr>
        <p:sp>
          <p:nvSpPr>
            <p:cNvPr id="9" name="Freeform 9" descr="A close up of a sign  AI-generated content may be incorrect."/>
            <p:cNvSpPr/>
            <p:nvPr/>
          </p:nvSpPr>
          <p:spPr>
            <a:xfrm>
              <a:off x="0" y="0"/>
              <a:ext cx="8875535" cy="5248282"/>
            </a:xfrm>
            <a:custGeom>
              <a:avLst/>
              <a:gdLst/>
              <a:ahLst/>
              <a:cxnLst/>
              <a:rect l="l" t="t" r="r" b="b"/>
              <a:pathLst>
                <a:path w="8875535" h="5248282">
                  <a:moveTo>
                    <a:pt x="0" y="0"/>
                  </a:moveTo>
                  <a:lnTo>
                    <a:pt x="8875535" y="0"/>
                  </a:lnTo>
                  <a:lnTo>
                    <a:pt x="8875535" y="5248282"/>
                  </a:lnTo>
                  <a:lnTo>
                    <a:pt x="0" y="5248282"/>
                  </a:lnTo>
                  <a:lnTo>
                    <a:pt x="0" y="0"/>
                  </a:lnTo>
                  <a:close/>
                </a:path>
              </a:pathLst>
            </a:custGeom>
            <a:blipFill>
              <a:blip r:embed="rId4">
                <a:alphaModFix amt="88000"/>
              </a:blip>
              <a:stretch>
                <a:fillRect l="-2561" r="-2561"/>
              </a:stretch>
            </a:blipFill>
          </p:spPr>
        </p:sp>
      </p:grpSp>
      <p:grpSp>
        <p:nvGrpSpPr>
          <p:cNvPr id="10" name="Group 10"/>
          <p:cNvGrpSpPr/>
          <p:nvPr/>
        </p:nvGrpSpPr>
        <p:grpSpPr>
          <a:xfrm>
            <a:off x="9396768" y="1880885"/>
            <a:ext cx="6755673" cy="1938147"/>
            <a:chOff x="0" y="0"/>
            <a:chExt cx="9007564" cy="2584196"/>
          </a:xfrm>
        </p:grpSpPr>
        <p:sp>
          <p:nvSpPr>
            <p:cNvPr id="11" name="Freeform 11"/>
            <p:cNvSpPr/>
            <p:nvPr/>
          </p:nvSpPr>
          <p:spPr>
            <a:xfrm>
              <a:off x="0" y="0"/>
              <a:ext cx="9007527" cy="2584234"/>
            </a:xfrm>
            <a:custGeom>
              <a:avLst/>
              <a:gdLst/>
              <a:ahLst/>
              <a:cxnLst/>
              <a:rect l="l" t="t" r="r" b="b"/>
              <a:pathLst>
                <a:path w="9007527" h="2584234">
                  <a:moveTo>
                    <a:pt x="0" y="0"/>
                  </a:moveTo>
                  <a:lnTo>
                    <a:pt x="9007527" y="0"/>
                  </a:lnTo>
                  <a:lnTo>
                    <a:pt x="9007527" y="2584234"/>
                  </a:lnTo>
                  <a:lnTo>
                    <a:pt x="0" y="2584234"/>
                  </a:lnTo>
                  <a:close/>
                </a:path>
              </a:pathLst>
            </a:custGeom>
            <a:solidFill>
              <a:srgbClr val="146194"/>
            </a:solidFill>
          </p:spPr>
        </p:sp>
        <p:sp>
          <p:nvSpPr>
            <p:cNvPr id="12" name="TextBox 12"/>
            <p:cNvSpPr txBox="1"/>
            <p:nvPr/>
          </p:nvSpPr>
          <p:spPr>
            <a:xfrm>
              <a:off x="0" y="-9525"/>
              <a:ext cx="9007564" cy="2593721"/>
            </a:xfrm>
            <a:prstGeom prst="rect">
              <a:avLst/>
            </a:prstGeom>
          </p:spPr>
          <p:txBody>
            <a:bodyPr lIns="50800" tIns="50800" rIns="50800" bIns="50800" rtlCol="0" anchor="t"/>
            <a:lstStyle/>
            <a:p>
              <a:pPr algn="l">
                <a:lnSpc>
                  <a:spcPts val="10800"/>
                </a:lnSpc>
              </a:pPr>
              <a:r>
                <a:rPr lang="en-US" sz="9000" b="1">
                  <a:solidFill>
                    <a:srgbClr val="FFFFFF"/>
                  </a:solidFill>
                  <a:latin typeface="Century Gothic Paneuropean Bold"/>
                  <a:ea typeface="Century Gothic Paneuropean Bold"/>
                  <a:cs typeface="Century Gothic Paneuropean Bold"/>
                  <a:sym typeface="Century Gothic Paneuropean Bold"/>
                </a:rPr>
                <a:t>ASTROSAGE</a:t>
              </a:r>
            </a:p>
          </p:txBody>
        </p:sp>
      </p:grpSp>
      <p:sp>
        <p:nvSpPr>
          <p:cNvPr id="13" name="TextBox 13"/>
          <p:cNvSpPr txBox="1"/>
          <p:nvPr/>
        </p:nvSpPr>
        <p:spPr>
          <a:xfrm>
            <a:off x="1251891" y="1861835"/>
            <a:ext cx="7716020" cy="6972300"/>
          </a:xfrm>
          <a:prstGeom prst="rect">
            <a:avLst/>
          </a:prstGeom>
        </p:spPr>
        <p:txBody>
          <a:bodyPr lIns="0" tIns="0" rIns="0" bIns="0" rtlCol="0" anchor="t">
            <a:spAutoFit/>
          </a:bodyPr>
          <a:lstStyle/>
          <a:p>
            <a:pPr algn="l">
              <a:lnSpc>
                <a:spcPts val="4800"/>
              </a:lnSpc>
            </a:pPr>
            <a:r>
              <a:rPr lang="en-US" sz="4000" b="1" dirty="0">
                <a:solidFill>
                  <a:srgbClr val="C00000"/>
                </a:solidFill>
                <a:latin typeface="Arimo Bold"/>
                <a:ea typeface="Arimo Bold"/>
                <a:cs typeface="Arimo Bold"/>
                <a:sym typeface="Arimo Bold"/>
              </a:rPr>
              <a:t>ABOUT ASTROSAGE</a:t>
            </a:r>
          </a:p>
          <a:p>
            <a:pPr algn="l">
              <a:lnSpc>
                <a:spcPts val="3190"/>
              </a:lnSpc>
            </a:pPr>
            <a:endParaRPr lang="en-US" sz="4000" b="1" dirty="0">
              <a:solidFill>
                <a:srgbClr val="C00000"/>
              </a:solidFill>
              <a:latin typeface="Arimo Bold"/>
              <a:ea typeface="Arimo Bold"/>
              <a:cs typeface="Arimo Bold"/>
              <a:sym typeface="Arimo Bold"/>
            </a:endParaRPr>
          </a:p>
          <a:p>
            <a:pPr algn="l">
              <a:lnSpc>
                <a:spcPts val="2999"/>
              </a:lnSpc>
            </a:pPr>
            <a:r>
              <a:rPr lang="en-US" sz="2499" b="1" dirty="0">
                <a:solidFill>
                  <a:srgbClr val="FFFFFF"/>
                </a:solidFill>
                <a:latin typeface="Century Gothic Paneuropean Bold"/>
                <a:ea typeface="Century Gothic Paneuropean Bold"/>
                <a:cs typeface="Century Gothic Paneuropean Bold"/>
                <a:sym typeface="Century Gothic Paneuropean Bold"/>
              </a:rPr>
              <a:t>🌟 Overview</a:t>
            </a:r>
          </a:p>
          <a:p>
            <a:pPr marL="452437" lvl="1" indent="-226219" algn="l">
              <a:lnSpc>
                <a:spcPts val="2999"/>
              </a:lnSpc>
              <a:buFont typeface="Arial"/>
              <a:buChar char="•"/>
            </a:pPr>
            <a:r>
              <a:rPr lang="en-US" sz="2499" dirty="0">
                <a:solidFill>
                  <a:srgbClr val="FFFFFF"/>
                </a:solidFill>
                <a:latin typeface="Century Gothic Paneuropean"/>
                <a:ea typeface="Century Gothic Paneuropean"/>
                <a:cs typeface="Century Gothic Paneuropean"/>
                <a:sym typeface="Century Gothic Paneuropean"/>
              </a:rPr>
              <a:t>A dedicated astrology-based call center providing expert guidance</a:t>
            </a:r>
          </a:p>
          <a:p>
            <a:pPr marL="452437" lvl="1" indent="-226219" algn="l">
              <a:lnSpc>
                <a:spcPts val="2999"/>
              </a:lnSpc>
              <a:buFont typeface="Arial"/>
              <a:buChar char="•"/>
            </a:pPr>
            <a:r>
              <a:rPr lang="en-US" sz="2499" dirty="0">
                <a:solidFill>
                  <a:srgbClr val="FFFFFF"/>
                </a:solidFill>
                <a:latin typeface="Century Gothic Paneuropean"/>
                <a:ea typeface="Century Gothic Paneuropean"/>
                <a:cs typeface="Century Gothic Paneuropean"/>
                <a:sym typeface="Century Gothic Paneuropean"/>
              </a:rPr>
              <a:t>Connects customers with professional astrologers for personalized predictions</a:t>
            </a:r>
          </a:p>
          <a:p>
            <a:pPr marL="452437" lvl="1" indent="-226219" algn="l">
              <a:lnSpc>
                <a:spcPts val="2999"/>
              </a:lnSpc>
            </a:pPr>
            <a:endParaRPr lang="en-US" sz="2499" dirty="0">
              <a:solidFill>
                <a:srgbClr val="FFFFFF"/>
              </a:solidFill>
              <a:latin typeface="Century Gothic Paneuropean"/>
              <a:ea typeface="Century Gothic Paneuropean"/>
              <a:cs typeface="Century Gothic Paneuropean"/>
              <a:sym typeface="Century Gothic Paneuropean"/>
            </a:endParaRPr>
          </a:p>
          <a:p>
            <a:pPr marL="452437" lvl="1" indent="-226219" algn="l">
              <a:lnSpc>
                <a:spcPts val="2999"/>
              </a:lnSpc>
            </a:pPr>
            <a:r>
              <a:rPr lang="en-US" sz="2499" b="1" dirty="0">
                <a:solidFill>
                  <a:srgbClr val="FFFFFF"/>
                </a:solidFill>
                <a:latin typeface="Century Gothic Paneuropean Bold"/>
                <a:ea typeface="Century Gothic Paneuropean Bold"/>
                <a:cs typeface="Century Gothic Paneuropean Bold"/>
                <a:sym typeface="Century Gothic Paneuropean Bold"/>
              </a:rPr>
              <a:t>📞 Services Offered</a:t>
            </a:r>
          </a:p>
          <a:p>
            <a:pPr marL="452437" lvl="1" indent="-226219" algn="l">
              <a:lnSpc>
                <a:spcPts val="2999"/>
              </a:lnSpc>
              <a:buFont typeface="Arial"/>
              <a:buChar char="•"/>
            </a:pPr>
            <a:r>
              <a:rPr lang="en-US" sz="2499" dirty="0">
                <a:solidFill>
                  <a:srgbClr val="FFFFFF"/>
                </a:solidFill>
                <a:latin typeface="Century Gothic Paneuropean"/>
                <a:ea typeface="Century Gothic Paneuropean"/>
                <a:cs typeface="Century Gothic Paneuropean"/>
                <a:sym typeface="Century Gothic Paneuropean"/>
              </a:rPr>
              <a:t>Horoscope analysis and future predictions</a:t>
            </a:r>
          </a:p>
          <a:p>
            <a:pPr marL="452437" lvl="1" indent="-226219" algn="l">
              <a:lnSpc>
                <a:spcPts val="2999"/>
              </a:lnSpc>
              <a:buFont typeface="Arial"/>
              <a:buChar char="•"/>
            </a:pPr>
            <a:r>
              <a:rPr lang="en-US" sz="2499" dirty="0" err="1">
                <a:solidFill>
                  <a:srgbClr val="FFFFFF"/>
                </a:solidFill>
                <a:latin typeface="Century Gothic Paneuropean"/>
                <a:ea typeface="Century Gothic Paneuropean"/>
                <a:cs typeface="Century Gothic Paneuropean"/>
                <a:sym typeface="Century Gothic Paneuropean"/>
              </a:rPr>
              <a:t>Kundli</a:t>
            </a:r>
            <a:r>
              <a:rPr lang="en-US" sz="2499" dirty="0">
                <a:solidFill>
                  <a:srgbClr val="FFFFFF"/>
                </a:solidFill>
                <a:latin typeface="Century Gothic Paneuropean"/>
                <a:ea typeface="Century Gothic Paneuropean"/>
                <a:cs typeface="Century Gothic Paneuropean"/>
                <a:sym typeface="Century Gothic Paneuropean"/>
              </a:rPr>
              <a:t> matching and relationship guidance Career, finance, and health-related consultations</a:t>
            </a:r>
          </a:p>
          <a:p>
            <a:pPr marL="452437" lvl="1" indent="-226219" algn="l">
              <a:lnSpc>
                <a:spcPts val="2999"/>
              </a:lnSpc>
            </a:pPr>
            <a:endParaRPr lang="en-US" sz="2499" dirty="0">
              <a:solidFill>
                <a:srgbClr val="FFFFFF"/>
              </a:solidFill>
              <a:latin typeface="Century Gothic Paneuropean"/>
              <a:ea typeface="Century Gothic Paneuropean"/>
              <a:cs typeface="Century Gothic Paneuropean"/>
              <a:sym typeface="Century Gothic Paneuropean"/>
            </a:endParaRPr>
          </a:p>
          <a:p>
            <a:pPr marL="452437" lvl="1" indent="-226219" algn="l">
              <a:lnSpc>
                <a:spcPts val="2999"/>
              </a:lnSpc>
            </a:pPr>
            <a:r>
              <a:rPr lang="en-US" sz="2499" b="1" dirty="0">
                <a:solidFill>
                  <a:srgbClr val="FFFFFF"/>
                </a:solidFill>
                <a:latin typeface="Century Gothic Paneuropean Bold"/>
                <a:ea typeface="Century Gothic Paneuropean Bold"/>
                <a:cs typeface="Century Gothic Paneuropean Bold"/>
                <a:sym typeface="Century Gothic Paneuropean Bold"/>
              </a:rPr>
              <a:t>💡 Why It Stands Out</a:t>
            </a:r>
          </a:p>
          <a:p>
            <a:pPr marL="452437" lvl="1" indent="-226219" algn="l">
              <a:lnSpc>
                <a:spcPts val="2999"/>
              </a:lnSpc>
              <a:buFont typeface="Arial"/>
              <a:buChar char="•"/>
            </a:pPr>
            <a:r>
              <a:rPr lang="en-US" sz="2499" dirty="0">
                <a:solidFill>
                  <a:srgbClr val="FFFFFF"/>
                </a:solidFill>
                <a:latin typeface="Century Gothic Paneuropean"/>
                <a:ea typeface="Century Gothic Paneuropean"/>
                <a:cs typeface="Century Gothic Paneuropean"/>
                <a:sym typeface="Century Gothic Paneuropean"/>
              </a:rPr>
              <a:t>24/7 accessibility for astrology queries</a:t>
            </a:r>
          </a:p>
          <a:p>
            <a:pPr marL="452437" lvl="1" indent="-226219" algn="l">
              <a:lnSpc>
                <a:spcPts val="2999"/>
              </a:lnSpc>
              <a:buFont typeface="Arial"/>
              <a:buChar char="•"/>
            </a:pPr>
            <a:r>
              <a:rPr lang="en-US" sz="2499" dirty="0">
                <a:solidFill>
                  <a:srgbClr val="FFFFFF"/>
                </a:solidFill>
                <a:latin typeface="Century Gothic Paneuropean"/>
                <a:ea typeface="Century Gothic Paneuropean"/>
                <a:cs typeface="Century Gothic Paneuropean"/>
                <a:sym typeface="Century Gothic Paneuropean"/>
              </a:rPr>
              <a:t>Experienced astrologers with diverse expertise</a:t>
            </a:r>
          </a:p>
          <a:p>
            <a:pPr marL="452437" lvl="1" indent="-226219" algn="l">
              <a:lnSpc>
                <a:spcPts val="2999"/>
              </a:lnSpc>
            </a:pPr>
            <a:endParaRPr lang="en-US" sz="2499" dirty="0">
              <a:solidFill>
                <a:srgbClr val="FFFFFF"/>
              </a:solidFill>
              <a:latin typeface="Century Gothic Paneuropean"/>
              <a:ea typeface="Century Gothic Paneuropean"/>
              <a:cs typeface="Century Gothic Paneuropean"/>
              <a:sym typeface="Century Gothic Paneuropean"/>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9144000" y="1964137"/>
            <a:ext cx="8139665" cy="5422106"/>
            <a:chOff x="0" y="0"/>
            <a:chExt cx="10852887" cy="7229475"/>
          </a:xfrm>
        </p:grpSpPr>
        <p:sp>
          <p:nvSpPr>
            <p:cNvPr id="9" name="Freeform 9" descr="AI Driven Customer Support Interaction A Seamless Scene of Personalized Service Efficiency and Tech"/>
            <p:cNvSpPr/>
            <p:nvPr/>
          </p:nvSpPr>
          <p:spPr>
            <a:xfrm>
              <a:off x="0" y="0"/>
              <a:ext cx="10852912" cy="7229475"/>
            </a:xfrm>
            <a:custGeom>
              <a:avLst/>
              <a:gdLst/>
              <a:ahLst/>
              <a:cxnLst/>
              <a:rect l="l" t="t" r="r" b="b"/>
              <a:pathLst>
                <a:path w="10852912" h="7229475">
                  <a:moveTo>
                    <a:pt x="0" y="0"/>
                  </a:moveTo>
                  <a:lnTo>
                    <a:pt x="10852912" y="0"/>
                  </a:lnTo>
                  <a:lnTo>
                    <a:pt x="10852912" y="7229475"/>
                  </a:lnTo>
                  <a:lnTo>
                    <a:pt x="0" y="7229475"/>
                  </a:lnTo>
                  <a:lnTo>
                    <a:pt x="0" y="0"/>
                  </a:lnTo>
                  <a:close/>
                </a:path>
              </a:pathLst>
            </a:custGeom>
            <a:blipFill>
              <a:blip r:embed="rId4"/>
              <a:stretch>
                <a:fillRect/>
              </a:stretch>
            </a:blipFill>
          </p:spPr>
        </p:sp>
      </p:grpSp>
      <p:sp>
        <p:nvSpPr>
          <p:cNvPr id="10" name="TextBox 10"/>
          <p:cNvSpPr txBox="1"/>
          <p:nvPr/>
        </p:nvSpPr>
        <p:spPr>
          <a:xfrm>
            <a:off x="1028700" y="1152525"/>
            <a:ext cx="7054691" cy="9361537"/>
          </a:xfrm>
          <a:prstGeom prst="rect">
            <a:avLst/>
          </a:prstGeom>
        </p:spPr>
        <p:txBody>
          <a:bodyPr lIns="0" tIns="0" rIns="0" bIns="0" rtlCol="0" anchor="t">
            <a:spAutoFit/>
          </a:bodyPr>
          <a:lstStyle/>
          <a:p>
            <a:pPr algn="l">
              <a:lnSpc>
                <a:spcPts val="4799"/>
              </a:lnSpc>
            </a:pPr>
            <a:r>
              <a:rPr lang="en-US" sz="3999" b="1" dirty="0">
                <a:solidFill>
                  <a:srgbClr val="C00000"/>
                </a:solidFill>
                <a:latin typeface="Arimo Bold"/>
                <a:ea typeface="Arimo Bold"/>
                <a:cs typeface="Arimo Bold"/>
                <a:sym typeface="Arimo Bold"/>
              </a:rPr>
              <a:t>How </a:t>
            </a:r>
            <a:r>
              <a:rPr lang="en-US" sz="3999" b="1" dirty="0" err="1">
                <a:solidFill>
                  <a:srgbClr val="C00000"/>
                </a:solidFill>
                <a:latin typeface="Arimo Bold"/>
                <a:ea typeface="Arimo Bold"/>
                <a:cs typeface="Arimo Bold"/>
                <a:sym typeface="Arimo Bold"/>
              </a:rPr>
              <a:t>Astrosage</a:t>
            </a:r>
            <a:r>
              <a:rPr lang="en-US" sz="3999" b="1" dirty="0">
                <a:solidFill>
                  <a:srgbClr val="C00000"/>
                </a:solidFill>
                <a:latin typeface="Arimo Bold"/>
                <a:ea typeface="Arimo Bold"/>
                <a:cs typeface="Arimo Bold"/>
                <a:sym typeface="Arimo Bold"/>
              </a:rPr>
              <a:t> Call Centre Works</a:t>
            </a:r>
          </a:p>
          <a:p>
            <a:pPr algn="l">
              <a:lnSpc>
                <a:spcPts val="4799"/>
              </a:lnSpc>
            </a:pPr>
            <a:r>
              <a:rPr lang="en-US" sz="3999" b="1" dirty="0">
                <a:solidFill>
                  <a:srgbClr val="C00000"/>
                </a:solidFill>
                <a:latin typeface="Arimo Bold"/>
                <a:ea typeface="Arimo Bold"/>
                <a:cs typeface="Arimo Bold"/>
                <a:sym typeface="Arimo Bold"/>
              </a:rPr>
              <a:t>🔗 Customer Interaction Process</a:t>
            </a:r>
          </a:p>
          <a:p>
            <a:pPr algn="l">
              <a:lnSpc>
                <a:spcPts val="3240"/>
              </a:lnSpc>
            </a:pPr>
            <a:endParaRPr lang="en-US" sz="3999" b="1" dirty="0">
              <a:solidFill>
                <a:srgbClr val="C00000"/>
              </a:solidFill>
              <a:latin typeface="Arimo Bold"/>
              <a:ea typeface="Arimo Bold"/>
              <a:cs typeface="Arimo Bold"/>
              <a:sym typeface="Arimo Bold"/>
            </a:endParaRPr>
          </a:p>
          <a:p>
            <a:pPr marL="452438" lvl="1" indent="-226219" algn="l">
              <a:lnSpc>
                <a:spcPts val="3000"/>
              </a:lnSpc>
              <a:buAutoNum type="arabicPeriod"/>
            </a:pPr>
            <a:r>
              <a:rPr lang="en-US" sz="2500" dirty="0">
                <a:solidFill>
                  <a:srgbClr val="FFFFFF"/>
                </a:solidFill>
                <a:latin typeface="Calibri (MS)"/>
                <a:ea typeface="Calibri (MS)"/>
                <a:cs typeface="Calibri (MS)"/>
                <a:sym typeface="Calibri (MS)"/>
              </a:rPr>
              <a:t> </a:t>
            </a:r>
            <a:r>
              <a:rPr lang="en-US" sz="2500" dirty="0">
                <a:solidFill>
                  <a:srgbClr val="FFFFFF"/>
                </a:solidFill>
                <a:latin typeface="Century Gothic" panose="020B0502020202020204" pitchFamily="34" charset="0"/>
                <a:ea typeface="Calibri (MS)"/>
                <a:cs typeface="Calibri (MS)"/>
                <a:sym typeface="Calibri (MS)"/>
              </a:rPr>
              <a:t>Customer calls for an astrology consultation</a:t>
            </a:r>
          </a:p>
          <a:p>
            <a:pPr marL="452438" lvl="1" indent="-226219" algn="l">
              <a:lnSpc>
                <a:spcPts val="3000"/>
              </a:lnSpc>
              <a:buAutoNum type="arabicPeriod"/>
            </a:pPr>
            <a:r>
              <a:rPr lang="en-US" sz="2500" dirty="0">
                <a:solidFill>
                  <a:srgbClr val="FFFFFF"/>
                </a:solidFill>
                <a:latin typeface="Century Gothic" panose="020B0502020202020204" pitchFamily="34" charset="0"/>
                <a:ea typeface="Calibri (MS)"/>
                <a:cs typeface="Calibri (MS)"/>
                <a:sym typeface="Calibri (MS)"/>
              </a:rPr>
              <a:t> Assigned to an expert astrologer</a:t>
            </a:r>
          </a:p>
          <a:p>
            <a:pPr marL="452438" lvl="1" indent="-226219" algn="l">
              <a:lnSpc>
                <a:spcPts val="3000"/>
              </a:lnSpc>
              <a:buAutoNum type="arabicPeriod"/>
            </a:pPr>
            <a:r>
              <a:rPr lang="en-US" sz="2500" dirty="0">
                <a:solidFill>
                  <a:srgbClr val="FFFFFF"/>
                </a:solidFill>
                <a:latin typeface="Century Gothic" panose="020B0502020202020204" pitchFamily="34" charset="0"/>
                <a:ea typeface="Calibri (MS)"/>
                <a:cs typeface="Calibri (MS)"/>
                <a:sym typeface="Calibri (MS)"/>
              </a:rPr>
              <a:t> Personalized analysis &amp; predictions given</a:t>
            </a:r>
          </a:p>
          <a:p>
            <a:pPr marL="452438" lvl="1" indent="-226219" algn="l">
              <a:lnSpc>
                <a:spcPts val="3000"/>
              </a:lnSpc>
              <a:buAutoNum type="arabicPeriod"/>
            </a:pPr>
            <a:r>
              <a:rPr lang="en-US" sz="2500" dirty="0">
                <a:solidFill>
                  <a:srgbClr val="FFFFFF"/>
                </a:solidFill>
                <a:latin typeface="Century Gothic" panose="020B0502020202020204" pitchFamily="34" charset="0"/>
                <a:ea typeface="Calibri (MS)"/>
                <a:cs typeface="Calibri (MS)"/>
                <a:sym typeface="Calibri (MS)"/>
              </a:rPr>
              <a:t> Feedback and follow-up services available</a:t>
            </a:r>
          </a:p>
          <a:p>
            <a:pPr marL="488632" lvl="1" indent="-244316" algn="l">
              <a:lnSpc>
                <a:spcPts val="3240"/>
              </a:lnSpc>
            </a:pPr>
            <a:endParaRPr lang="en-US" sz="2500" dirty="0">
              <a:solidFill>
                <a:srgbClr val="FFFFFF"/>
              </a:solidFill>
              <a:latin typeface="Calibri (MS)"/>
              <a:ea typeface="Calibri (MS)"/>
              <a:cs typeface="Calibri (MS)"/>
              <a:sym typeface="Calibri (MS)"/>
            </a:endParaRPr>
          </a:p>
          <a:p>
            <a:pPr marL="488632" lvl="1" indent="-244316" algn="l">
              <a:lnSpc>
                <a:spcPts val="3240"/>
              </a:lnSpc>
            </a:pPr>
            <a:endParaRPr lang="en-US" sz="2500" dirty="0">
              <a:solidFill>
                <a:srgbClr val="FFFFFF"/>
              </a:solidFill>
              <a:latin typeface="Calibri (MS)"/>
              <a:ea typeface="Calibri (MS)"/>
              <a:cs typeface="Calibri (MS)"/>
              <a:sym typeface="Calibri (MS)"/>
            </a:endParaRPr>
          </a:p>
          <a:p>
            <a:pPr marL="723895" lvl="1" indent="-361948" algn="l">
              <a:lnSpc>
                <a:spcPts val="4799"/>
              </a:lnSpc>
            </a:pPr>
            <a:r>
              <a:rPr lang="en-US" sz="3999" dirty="0">
                <a:solidFill>
                  <a:srgbClr val="FFFFFF"/>
                </a:solidFill>
                <a:latin typeface="Arimo"/>
                <a:ea typeface="Arimo"/>
                <a:cs typeface="Arimo"/>
                <a:sym typeface="Arimo"/>
              </a:rPr>
              <a:t>🚀</a:t>
            </a:r>
            <a:r>
              <a:rPr lang="en-US" sz="3999" dirty="0">
                <a:solidFill>
                  <a:srgbClr val="C00000"/>
                </a:solidFill>
                <a:latin typeface="Arimo"/>
                <a:ea typeface="Arimo"/>
                <a:cs typeface="Arimo"/>
                <a:sym typeface="Arimo"/>
              </a:rPr>
              <a:t> </a:t>
            </a:r>
            <a:r>
              <a:rPr lang="en-US" sz="3999" b="1" dirty="0">
                <a:solidFill>
                  <a:srgbClr val="C00000"/>
                </a:solidFill>
                <a:latin typeface="Arimo Bold"/>
                <a:ea typeface="Arimo Bold"/>
                <a:cs typeface="Arimo Bold"/>
                <a:sym typeface="Arimo Bold"/>
              </a:rPr>
              <a:t>Technology &amp; Support</a:t>
            </a:r>
          </a:p>
          <a:p>
            <a:pPr marL="488632" lvl="1" indent="-244316" algn="l">
              <a:lnSpc>
                <a:spcPts val="3240"/>
              </a:lnSpc>
            </a:pPr>
            <a:endParaRPr lang="en-US" sz="3999" b="1" dirty="0">
              <a:solidFill>
                <a:srgbClr val="C00000"/>
              </a:solidFill>
              <a:latin typeface="Arimo Bold"/>
              <a:ea typeface="Arimo Bold"/>
              <a:cs typeface="Arimo Bold"/>
              <a:sym typeface="Arimo Bold"/>
            </a:endParaRP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Calibri (MS)"/>
                <a:cs typeface="Calibri (MS)"/>
                <a:sym typeface="Calibri (MS)"/>
              </a:rPr>
              <a:t>AI-powered astrology insights</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Calibri (MS)"/>
                <a:cs typeface="Calibri (MS)"/>
                <a:sym typeface="Calibri (MS)"/>
              </a:rPr>
              <a:t>Secure and efficient customer management system</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Calibri (MS)"/>
                <a:cs typeface="Calibri (MS)"/>
                <a:sym typeface="Calibri (MS)"/>
              </a:rPr>
              <a:t>Multiple language support for diverse audiences</a:t>
            </a:r>
          </a:p>
          <a:p>
            <a:pPr marL="488632" lvl="1" indent="-244316" algn="l">
              <a:lnSpc>
                <a:spcPts val="3240"/>
              </a:lnSpc>
            </a:pPr>
            <a:endParaRPr lang="en-US" sz="2500" dirty="0">
              <a:solidFill>
                <a:srgbClr val="FFFFFF"/>
              </a:solidFill>
              <a:latin typeface="Calibri (MS)"/>
              <a:ea typeface="Calibri (MS)"/>
              <a:cs typeface="Calibri (MS)"/>
              <a:sym typeface="Calibri (M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028700" y="1719160"/>
            <a:ext cx="7140740" cy="1169194"/>
            <a:chOff x="0" y="0"/>
            <a:chExt cx="9520987" cy="1558926"/>
          </a:xfrm>
        </p:grpSpPr>
        <p:sp>
          <p:nvSpPr>
            <p:cNvPr id="9" name="Freeform 9"/>
            <p:cNvSpPr/>
            <p:nvPr/>
          </p:nvSpPr>
          <p:spPr>
            <a:xfrm>
              <a:off x="0" y="0"/>
              <a:ext cx="9520990" cy="1558927"/>
            </a:xfrm>
            <a:custGeom>
              <a:avLst/>
              <a:gdLst/>
              <a:ahLst/>
              <a:cxnLst/>
              <a:rect l="l" t="t" r="r" b="b"/>
              <a:pathLst>
                <a:path w="9520990" h="1558927">
                  <a:moveTo>
                    <a:pt x="0" y="0"/>
                  </a:moveTo>
                  <a:lnTo>
                    <a:pt x="9520990" y="0"/>
                  </a:lnTo>
                  <a:lnTo>
                    <a:pt x="9520990" y="1558927"/>
                  </a:lnTo>
                  <a:lnTo>
                    <a:pt x="0" y="1558927"/>
                  </a:lnTo>
                  <a:close/>
                </a:path>
              </a:pathLst>
            </a:custGeom>
            <a:blipFill>
              <a:blip r:embed="rId4">
                <a:alphaModFix amt="0"/>
              </a:blip>
              <a:stretch>
                <a:fillRect t="-69002" b="-69002"/>
              </a:stretch>
            </a:blipFill>
          </p:spPr>
        </p:sp>
        <p:sp>
          <p:nvSpPr>
            <p:cNvPr id="10" name="TextBox 10"/>
            <p:cNvSpPr txBox="1"/>
            <p:nvPr/>
          </p:nvSpPr>
          <p:spPr>
            <a:xfrm>
              <a:off x="0" y="-19050"/>
              <a:ext cx="9520987" cy="1577976"/>
            </a:xfrm>
            <a:prstGeom prst="rect">
              <a:avLst/>
            </a:prstGeom>
          </p:spPr>
          <p:txBody>
            <a:bodyPr lIns="0" tIns="0" rIns="0" bIns="0" rtlCol="0" anchor="ctr"/>
            <a:lstStyle/>
            <a:p>
              <a:pPr algn="l">
                <a:lnSpc>
                  <a:spcPts val="4800"/>
                </a:lnSpc>
              </a:pPr>
              <a:r>
                <a:rPr lang="en-US" sz="4000" b="1" dirty="0">
                  <a:solidFill>
                    <a:srgbClr val="C00000"/>
                  </a:solidFill>
                  <a:latin typeface="Arimo Bold"/>
                  <a:ea typeface="Arimo Bold"/>
                  <a:cs typeface="Arimo Bold"/>
                  <a:sym typeface="Arimo Bold"/>
                </a:rPr>
                <a:t>AIMS OF ANALYSIS</a:t>
              </a:r>
            </a:p>
          </p:txBody>
        </p:sp>
      </p:grpSp>
      <p:grpSp>
        <p:nvGrpSpPr>
          <p:cNvPr id="11" name="Group 11"/>
          <p:cNvGrpSpPr/>
          <p:nvPr/>
        </p:nvGrpSpPr>
        <p:grpSpPr>
          <a:xfrm>
            <a:off x="1028700" y="2675987"/>
            <a:ext cx="13794783" cy="5701145"/>
            <a:chOff x="0" y="-19050"/>
            <a:chExt cx="18393044" cy="7601526"/>
          </a:xfrm>
        </p:grpSpPr>
        <p:sp>
          <p:nvSpPr>
            <p:cNvPr id="12" name="Freeform 12"/>
            <p:cNvSpPr/>
            <p:nvPr/>
          </p:nvSpPr>
          <p:spPr>
            <a:xfrm>
              <a:off x="314413" y="81701"/>
              <a:ext cx="18078631" cy="7500775"/>
            </a:xfrm>
            <a:custGeom>
              <a:avLst/>
              <a:gdLst/>
              <a:ahLst/>
              <a:cxnLst/>
              <a:rect l="l" t="t" r="r" b="b"/>
              <a:pathLst>
                <a:path w="18078630" h="7500775">
                  <a:moveTo>
                    <a:pt x="0" y="0"/>
                  </a:moveTo>
                  <a:lnTo>
                    <a:pt x="18078630" y="0"/>
                  </a:lnTo>
                  <a:lnTo>
                    <a:pt x="18078630" y="7500775"/>
                  </a:lnTo>
                  <a:lnTo>
                    <a:pt x="0" y="7500775"/>
                  </a:lnTo>
                  <a:close/>
                </a:path>
              </a:pathLst>
            </a:custGeom>
            <a:blipFill>
              <a:blip r:embed="rId4">
                <a:alphaModFix amt="0"/>
              </a:blip>
              <a:stretch>
                <a:fillRect l="-3232" r="-3232"/>
              </a:stretch>
            </a:blipFill>
          </p:spPr>
        </p:sp>
        <p:sp>
          <p:nvSpPr>
            <p:cNvPr id="13" name="TextBox 13"/>
            <p:cNvSpPr txBox="1"/>
            <p:nvPr/>
          </p:nvSpPr>
          <p:spPr>
            <a:xfrm>
              <a:off x="0" y="-19050"/>
              <a:ext cx="18078628" cy="7519830"/>
            </a:xfrm>
            <a:prstGeom prst="rect">
              <a:avLst/>
            </a:prstGeom>
          </p:spPr>
          <p:txBody>
            <a:bodyPr lIns="0" tIns="0" rIns="0" bIns="0" rtlCol="0" anchor="ctr"/>
            <a:lstStyle/>
            <a:p>
              <a:pPr algn="l">
                <a:lnSpc>
                  <a:spcPts val="3000"/>
                </a:lnSpc>
              </a:pPr>
              <a:r>
                <a:rPr lang="en-US" sz="2500" b="1" dirty="0">
                  <a:solidFill>
                    <a:srgbClr val="0F496F"/>
                  </a:solidFill>
                  <a:latin typeface="Arimo"/>
                  <a:ea typeface="Arimo"/>
                  <a:cs typeface="Arimo"/>
                  <a:sym typeface="Arimo"/>
                </a:rPr>
                <a:t> </a:t>
              </a:r>
              <a:r>
                <a:rPr lang="en-US" sz="2500" b="1" dirty="0">
                  <a:solidFill>
                    <a:srgbClr val="C00000"/>
                  </a:solidFill>
                  <a:latin typeface="Arimo"/>
                  <a:ea typeface="Arimo"/>
                  <a:cs typeface="Arimo"/>
                  <a:sym typeface="Arimo"/>
                </a:rPr>
                <a:t>ALLOCATION OF INVESTMENT TO OPTIMIZE THE FOLLOWING KEY METRICS:</a:t>
              </a:r>
            </a:p>
            <a:p>
              <a:pPr algn="l">
                <a:lnSpc>
                  <a:spcPts val="3240"/>
                </a:lnSpc>
              </a:pPr>
              <a:endParaRPr lang="en-US" sz="2500" dirty="0">
                <a:solidFill>
                  <a:srgbClr val="C00000"/>
                </a:solidFill>
                <a:latin typeface="Arimo"/>
                <a:ea typeface="Arimo"/>
                <a:cs typeface="Arimo"/>
                <a:sym typeface="Arimo"/>
              </a:endParaRPr>
            </a:p>
            <a:p>
              <a:pPr algn="l">
                <a:lnSpc>
                  <a:spcPts val="3240"/>
                </a:lnSpc>
              </a:pPr>
              <a:endParaRPr lang="en-US" sz="2500" dirty="0">
                <a:solidFill>
                  <a:srgbClr val="C00000"/>
                </a:solidFill>
                <a:latin typeface="Arimo"/>
                <a:ea typeface="Arimo"/>
                <a:cs typeface="Arimo"/>
                <a:sym typeface="Arimo"/>
              </a:endParaRP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1.Performance Evaluation</a:t>
              </a: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2. Customer Experience Enhancement</a:t>
              </a: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3. Agent Productivity &amp; Training</a:t>
              </a: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4. Technology &amp; Automation Integration</a:t>
              </a: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5. Cost &amp; Resource Optimization</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475083" y="1028700"/>
            <a:ext cx="6563887" cy="1922874"/>
            <a:chOff x="0" y="0"/>
            <a:chExt cx="8751849" cy="2563832"/>
          </a:xfrm>
        </p:grpSpPr>
        <p:sp>
          <p:nvSpPr>
            <p:cNvPr id="9" name="Freeform 9"/>
            <p:cNvSpPr/>
            <p:nvPr/>
          </p:nvSpPr>
          <p:spPr>
            <a:xfrm>
              <a:off x="0" y="0"/>
              <a:ext cx="8751850" cy="2563826"/>
            </a:xfrm>
            <a:custGeom>
              <a:avLst/>
              <a:gdLst/>
              <a:ahLst/>
              <a:cxnLst/>
              <a:rect l="l" t="t" r="r" b="b"/>
              <a:pathLst>
                <a:path w="8751850" h="2563826">
                  <a:moveTo>
                    <a:pt x="0" y="0"/>
                  </a:moveTo>
                  <a:lnTo>
                    <a:pt x="8751850" y="0"/>
                  </a:lnTo>
                  <a:lnTo>
                    <a:pt x="8751850" y="2563826"/>
                  </a:lnTo>
                  <a:lnTo>
                    <a:pt x="0" y="2563826"/>
                  </a:lnTo>
                  <a:close/>
                </a:path>
              </a:pathLst>
            </a:custGeom>
            <a:blipFill>
              <a:blip r:embed="rId4">
                <a:alphaModFix amt="0"/>
              </a:blip>
              <a:stretch>
                <a:fillRect t="-16513" b="-16514"/>
              </a:stretch>
            </a:blipFill>
          </p:spPr>
        </p:sp>
        <p:sp>
          <p:nvSpPr>
            <p:cNvPr id="10" name="TextBox 10"/>
            <p:cNvSpPr txBox="1"/>
            <p:nvPr/>
          </p:nvSpPr>
          <p:spPr>
            <a:xfrm>
              <a:off x="0" y="-19050"/>
              <a:ext cx="8751849" cy="2582882"/>
            </a:xfrm>
            <a:prstGeom prst="rect">
              <a:avLst/>
            </a:prstGeom>
          </p:spPr>
          <p:txBody>
            <a:bodyPr lIns="0" tIns="0" rIns="0" bIns="0" rtlCol="0" anchor="ctr"/>
            <a:lstStyle/>
            <a:p>
              <a:pPr algn="l">
                <a:lnSpc>
                  <a:spcPts val="4800"/>
                </a:lnSpc>
              </a:pPr>
              <a:r>
                <a:rPr lang="en-US" sz="4000" b="1" dirty="0">
                  <a:solidFill>
                    <a:srgbClr val="C00000"/>
                  </a:solidFill>
                  <a:latin typeface="Arimo Bold"/>
                  <a:ea typeface="Arimo Bold"/>
                  <a:cs typeface="Arimo Bold"/>
                  <a:sym typeface="Arimo Bold"/>
                </a:rPr>
                <a:t>DATA OVERVIEW</a:t>
              </a:r>
            </a:p>
          </p:txBody>
        </p:sp>
      </p:grpSp>
      <p:grpSp>
        <p:nvGrpSpPr>
          <p:cNvPr id="11" name="Group 11"/>
          <p:cNvGrpSpPr/>
          <p:nvPr/>
        </p:nvGrpSpPr>
        <p:grpSpPr>
          <a:xfrm>
            <a:off x="11484772" y="2357441"/>
            <a:ext cx="5422106" cy="5422106"/>
            <a:chOff x="0" y="0"/>
            <a:chExt cx="7229475" cy="7229475"/>
          </a:xfrm>
        </p:grpSpPr>
        <p:sp>
          <p:nvSpPr>
            <p:cNvPr id="12" name="Freeform 12" descr="Analysis, dashboard, data, report, summary icon - Download on Iconfinder"/>
            <p:cNvSpPr/>
            <p:nvPr/>
          </p:nvSpPr>
          <p:spPr>
            <a:xfrm>
              <a:off x="0" y="0"/>
              <a:ext cx="7229475" cy="7229475"/>
            </a:xfrm>
            <a:custGeom>
              <a:avLst/>
              <a:gdLst/>
              <a:ahLst/>
              <a:cxnLst/>
              <a:rect l="l" t="t" r="r" b="b"/>
              <a:pathLst>
                <a:path w="7229475" h="7229475">
                  <a:moveTo>
                    <a:pt x="0" y="0"/>
                  </a:moveTo>
                  <a:lnTo>
                    <a:pt x="7229475" y="0"/>
                  </a:lnTo>
                  <a:lnTo>
                    <a:pt x="7229475" y="7229475"/>
                  </a:lnTo>
                  <a:lnTo>
                    <a:pt x="0" y="7229475"/>
                  </a:lnTo>
                  <a:lnTo>
                    <a:pt x="0" y="0"/>
                  </a:lnTo>
                  <a:close/>
                </a:path>
              </a:pathLst>
            </a:custGeom>
            <a:blipFill>
              <a:blip r:embed="rId5"/>
              <a:stretch>
                <a:fillRect/>
              </a:stretch>
            </a:blipFill>
          </p:spPr>
        </p:sp>
      </p:grpSp>
      <p:sp>
        <p:nvSpPr>
          <p:cNvPr id="13" name="TextBox 13"/>
          <p:cNvSpPr txBox="1"/>
          <p:nvPr/>
        </p:nvSpPr>
        <p:spPr>
          <a:xfrm>
            <a:off x="1028700" y="3350612"/>
            <a:ext cx="9913714" cy="5715000"/>
          </a:xfrm>
          <a:prstGeom prst="rect">
            <a:avLst/>
          </a:prstGeom>
        </p:spPr>
        <p:txBody>
          <a:bodyPr lIns="0" tIns="0" rIns="0" bIns="0" rtlCol="0" anchor="t">
            <a:spAutoFit/>
          </a:bodyPr>
          <a:lstStyle/>
          <a:p>
            <a:pPr marL="452438" lvl="1" indent="-226219" algn="l">
              <a:lnSpc>
                <a:spcPts val="3000"/>
              </a:lnSpc>
              <a:buAutoNum type="arabicPeriod"/>
            </a:pPr>
            <a:r>
              <a:rPr lang="en-US" sz="2500" dirty="0">
                <a:solidFill>
                  <a:srgbClr val="FFFFFF"/>
                </a:solidFill>
                <a:latin typeface="Century Gothic Paneuropean"/>
                <a:ea typeface="Century Gothic Paneuropean"/>
                <a:cs typeface="Century Gothic Paneuropean"/>
                <a:sym typeface="Century Gothic Paneuropean"/>
              </a:rPr>
              <a:t>Average calls per day  approximately 250 indicating that lot of user want suggestion from ASTROSAGE through calling</a:t>
            </a:r>
          </a:p>
          <a:p>
            <a:pPr marL="452438" lvl="1" indent="-226219" algn="l">
              <a:lnSpc>
                <a:spcPts val="3000"/>
              </a:lnSpc>
            </a:pPr>
            <a:endParaRPr lang="en-US" sz="2500" dirty="0">
              <a:solidFill>
                <a:srgbClr val="FFFFFF"/>
              </a:solidFill>
              <a:latin typeface="Century Gothic Paneuropean"/>
              <a:ea typeface="Century Gothic Paneuropean"/>
              <a:cs typeface="Century Gothic Paneuropean"/>
              <a:sym typeface="Century Gothic Paneuropean"/>
            </a:endParaRPr>
          </a:p>
          <a:p>
            <a:pPr marL="539751" lvl="1" indent="-269876" algn="l">
              <a:lnSpc>
                <a:spcPts val="3000"/>
              </a:lnSpc>
              <a:buAutoNum type="arabicPeriod"/>
            </a:pPr>
            <a:r>
              <a:rPr lang="en-US" sz="2500" dirty="0">
                <a:solidFill>
                  <a:srgbClr val="FFFFFF"/>
                </a:solidFill>
                <a:latin typeface="Century Gothic Paneuropean"/>
                <a:ea typeface="Century Gothic Paneuropean"/>
                <a:cs typeface="Century Gothic Paneuropean"/>
                <a:sym typeface="Century Gothic Paneuropean"/>
              </a:rPr>
              <a:t>There are various option by which customer with astrologers or astrologers interact with customers through chatting , calls , public live calling from astrologer etc. </a:t>
            </a:r>
          </a:p>
          <a:p>
            <a:pPr marL="452438" lvl="1" indent="-226219" algn="l">
              <a:lnSpc>
                <a:spcPts val="3000"/>
              </a:lnSpc>
            </a:pPr>
            <a:endParaRPr lang="en-US" sz="2500" dirty="0">
              <a:solidFill>
                <a:srgbClr val="FFFFFF"/>
              </a:solidFill>
              <a:latin typeface="Century Gothic Paneuropean"/>
              <a:ea typeface="Century Gothic Paneuropean"/>
              <a:cs typeface="Century Gothic Paneuropean"/>
              <a:sym typeface="Century Gothic Paneuropean"/>
            </a:endParaRPr>
          </a:p>
          <a:p>
            <a:pPr marL="539751" lvl="1" indent="-269876" algn="l">
              <a:lnSpc>
                <a:spcPts val="3000"/>
              </a:lnSpc>
              <a:buAutoNum type="arabicPeriod"/>
            </a:pPr>
            <a:r>
              <a:rPr lang="en-US" sz="2500" dirty="0">
                <a:solidFill>
                  <a:srgbClr val="FFFFFF"/>
                </a:solidFill>
                <a:latin typeface="Century Gothic Paneuropean"/>
                <a:ea typeface="Century Gothic Paneuropean"/>
                <a:cs typeface="Century Gothic Paneuropean"/>
                <a:sym typeface="Century Gothic Paneuropean"/>
              </a:rPr>
              <a:t>Net revenue by the call center is 213987.3 rupees.</a:t>
            </a:r>
          </a:p>
          <a:p>
            <a:pPr marL="452438" lvl="1" indent="-226219" algn="l">
              <a:lnSpc>
                <a:spcPts val="3000"/>
              </a:lnSpc>
            </a:pPr>
            <a:endParaRPr lang="en-US" sz="2500" dirty="0">
              <a:solidFill>
                <a:srgbClr val="FFFFFF"/>
              </a:solidFill>
              <a:latin typeface="Century Gothic Paneuropean"/>
              <a:ea typeface="Century Gothic Paneuropean"/>
              <a:cs typeface="Century Gothic Paneuropean"/>
              <a:sym typeface="Century Gothic Paneuropean"/>
            </a:endParaRP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  4.  Average no of agent working per day is 4</a:t>
            </a:r>
          </a:p>
          <a:p>
            <a:pPr marL="452438" lvl="1" indent="-226219" algn="l">
              <a:lnSpc>
                <a:spcPts val="3000"/>
              </a:lnSpc>
            </a:pPr>
            <a:endParaRPr lang="en-US" sz="2500" dirty="0">
              <a:solidFill>
                <a:srgbClr val="FFFFFF"/>
              </a:solidFill>
              <a:latin typeface="Century Gothic Paneuropean"/>
              <a:ea typeface="Century Gothic Paneuropean"/>
              <a:cs typeface="Century Gothic Paneuropean"/>
              <a:sym typeface="Century Gothic Paneuropean"/>
            </a:endParaRP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  5.  Total Consultant is 28027</a:t>
            </a:r>
          </a:p>
          <a:p>
            <a:pPr marL="452438" lvl="1" indent="-226219" algn="l">
              <a:lnSpc>
                <a:spcPts val="3000"/>
              </a:lnSpc>
            </a:pPr>
            <a:endParaRPr lang="en-US" sz="2500" dirty="0">
              <a:solidFill>
                <a:srgbClr val="FFFFFF"/>
              </a:solidFill>
              <a:latin typeface="Century Gothic Paneuropean"/>
              <a:ea typeface="Century Gothic Paneuropean"/>
              <a:cs typeface="Century Gothic Paneuropean"/>
              <a:sym typeface="Century Gothic Paneuropean"/>
            </a:endParaRPr>
          </a:p>
          <a:p>
            <a:pPr algn="l">
              <a:lnSpc>
                <a:spcPts val="3000"/>
              </a:lnSpc>
            </a:pPr>
            <a:r>
              <a:rPr lang="en-US" sz="2500" dirty="0">
                <a:solidFill>
                  <a:srgbClr val="FFFFFF"/>
                </a:solidFill>
                <a:latin typeface="Century Gothic Paneuropean"/>
                <a:ea typeface="Century Gothic Paneuropean"/>
                <a:cs typeface="Century Gothic Paneuropean"/>
                <a:sym typeface="Century Gothic Paneuropean"/>
              </a:rPr>
              <a:t>  6.  Average rating is 2.93</a:t>
            </a:r>
          </a:p>
          <a:p>
            <a:pPr marL="452438" lvl="1" indent="-226219" algn="l">
              <a:lnSpc>
                <a:spcPts val="3000"/>
              </a:lnSpc>
            </a:pPr>
            <a:endParaRPr lang="en-US" sz="2500" dirty="0">
              <a:solidFill>
                <a:srgbClr val="FFFFFF"/>
              </a:solidFill>
              <a:latin typeface="Century Gothic Paneuropean"/>
              <a:ea typeface="Century Gothic Paneuropean"/>
              <a:cs typeface="Century Gothic Paneuropean"/>
              <a:sym typeface="Century Gothic Paneuropean"/>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211311" y="1390206"/>
            <a:ext cx="8894578" cy="1270922"/>
            <a:chOff x="0" y="0"/>
            <a:chExt cx="11859438" cy="1694562"/>
          </a:xfrm>
        </p:grpSpPr>
        <p:sp>
          <p:nvSpPr>
            <p:cNvPr id="9" name="Freeform 9"/>
            <p:cNvSpPr/>
            <p:nvPr/>
          </p:nvSpPr>
          <p:spPr>
            <a:xfrm>
              <a:off x="0" y="0"/>
              <a:ext cx="11859436" cy="1694563"/>
            </a:xfrm>
            <a:custGeom>
              <a:avLst/>
              <a:gdLst/>
              <a:ahLst/>
              <a:cxnLst/>
              <a:rect l="l" t="t" r="r" b="b"/>
              <a:pathLst>
                <a:path w="11859436" h="1694563">
                  <a:moveTo>
                    <a:pt x="0" y="0"/>
                  </a:moveTo>
                  <a:lnTo>
                    <a:pt x="11859436" y="0"/>
                  </a:lnTo>
                  <a:lnTo>
                    <a:pt x="11859436" y="1694563"/>
                  </a:lnTo>
                  <a:lnTo>
                    <a:pt x="0" y="1694563"/>
                  </a:lnTo>
                  <a:close/>
                </a:path>
              </a:pathLst>
            </a:custGeom>
            <a:blipFill>
              <a:blip r:embed="rId4">
                <a:alphaModFix amt="0"/>
              </a:blip>
              <a:stretch>
                <a:fillRect t="-86366" b="-86366"/>
              </a:stretch>
            </a:blipFill>
          </p:spPr>
        </p:sp>
        <p:sp>
          <p:nvSpPr>
            <p:cNvPr id="10" name="TextBox 10"/>
            <p:cNvSpPr txBox="1"/>
            <p:nvPr/>
          </p:nvSpPr>
          <p:spPr>
            <a:xfrm>
              <a:off x="0" y="-19050"/>
              <a:ext cx="11859438" cy="1713612"/>
            </a:xfrm>
            <a:prstGeom prst="rect">
              <a:avLst/>
            </a:prstGeom>
          </p:spPr>
          <p:txBody>
            <a:bodyPr lIns="0" tIns="0" rIns="0" bIns="0" rtlCol="0" anchor="ctr"/>
            <a:lstStyle/>
            <a:p>
              <a:pPr algn="l">
                <a:lnSpc>
                  <a:spcPts val="4800"/>
                </a:lnSpc>
              </a:pPr>
              <a:r>
                <a:rPr lang="en-US" sz="4000" b="1">
                  <a:solidFill>
                    <a:srgbClr val="C00000"/>
                  </a:solidFill>
                  <a:latin typeface="Arimo Bold"/>
                  <a:ea typeface="Arimo Bold"/>
                  <a:cs typeface="Arimo Bold"/>
                  <a:sym typeface="Arimo Bold"/>
                </a:rPr>
                <a:t>METHODOLOGY</a:t>
              </a:r>
            </a:p>
          </p:txBody>
        </p:sp>
      </p:grpSp>
      <p:grpSp>
        <p:nvGrpSpPr>
          <p:cNvPr id="11" name="Group 11"/>
          <p:cNvGrpSpPr/>
          <p:nvPr/>
        </p:nvGrpSpPr>
        <p:grpSpPr>
          <a:xfrm>
            <a:off x="11837194" y="2661128"/>
            <a:ext cx="5422106" cy="5422106"/>
            <a:chOff x="0" y="0"/>
            <a:chExt cx="7229475" cy="7229475"/>
          </a:xfrm>
        </p:grpSpPr>
        <p:sp>
          <p:nvSpPr>
            <p:cNvPr id="12" name="Freeform 12" descr="A green bar graph on a black background  AI-generated content may be incorrect."/>
            <p:cNvSpPr/>
            <p:nvPr/>
          </p:nvSpPr>
          <p:spPr>
            <a:xfrm>
              <a:off x="0" y="0"/>
              <a:ext cx="7229475" cy="7229475"/>
            </a:xfrm>
            <a:custGeom>
              <a:avLst/>
              <a:gdLst/>
              <a:ahLst/>
              <a:cxnLst/>
              <a:rect l="l" t="t" r="r" b="b"/>
              <a:pathLst>
                <a:path w="7229475" h="7229475">
                  <a:moveTo>
                    <a:pt x="0" y="0"/>
                  </a:moveTo>
                  <a:lnTo>
                    <a:pt x="7229475" y="0"/>
                  </a:lnTo>
                  <a:lnTo>
                    <a:pt x="7229475" y="7229475"/>
                  </a:lnTo>
                  <a:lnTo>
                    <a:pt x="0" y="7229475"/>
                  </a:lnTo>
                  <a:lnTo>
                    <a:pt x="0" y="0"/>
                  </a:lnTo>
                  <a:close/>
                </a:path>
              </a:pathLst>
            </a:custGeom>
            <a:blipFill>
              <a:blip r:embed="rId5"/>
              <a:stretch>
                <a:fillRect/>
              </a:stretch>
            </a:blipFill>
          </p:spPr>
        </p:sp>
      </p:grpSp>
      <p:grpSp>
        <p:nvGrpSpPr>
          <p:cNvPr id="13" name="Group 13"/>
          <p:cNvGrpSpPr/>
          <p:nvPr/>
        </p:nvGrpSpPr>
        <p:grpSpPr>
          <a:xfrm>
            <a:off x="1028700" y="2661128"/>
            <a:ext cx="10851242" cy="6320479"/>
            <a:chOff x="0" y="0"/>
            <a:chExt cx="14468323" cy="8427306"/>
          </a:xfrm>
        </p:grpSpPr>
        <p:sp>
          <p:nvSpPr>
            <p:cNvPr id="14" name="Freeform 14"/>
            <p:cNvSpPr/>
            <p:nvPr/>
          </p:nvSpPr>
          <p:spPr>
            <a:xfrm>
              <a:off x="0" y="0"/>
              <a:ext cx="14468326" cy="8427301"/>
            </a:xfrm>
            <a:custGeom>
              <a:avLst/>
              <a:gdLst/>
              <a:ahLst/>
              <a:cxnLst/>
              <a:rect l="l" t="t" r="r" b="b"/>
              <a:pathLst>
                <a:path w="14468326" h="8427301">
                  <a:moveTo>
                    <a:pt x="0" y="0"/>
                  </a:moveTo>
                  <a:lnTo>
                    <a:pt x="14468326" y="0"/>
                  </a:lnTo>
                  <a:lnTo>
                    <a:pt x="14468326" y="8427301"/>
                  </a:lnTo>
                  <a:lnTo>
                    <a:pt x="0" y="8427301"/>
                  </a:lnTo>
                  <a:close/>
                </a:path>
              </a:pathLst>
            </a:custGeom>
            <a:blipFill>
              <a:blip r:embed="rId4">
                <a:alphaModFix amt="0"/>
              </a:blip>
              <a:stretch>
                <a:fillRect l="-42005" r="-42005" b="-23113"/>
              </a:stretch>
            </a:blipFill>
          </p:spPr>
        </p:sp>
        <p:sp>
          <p:nvSpPr>
            <p:cNvPr id="15" name="TextBox 15"/>
            <p:cNvSpPr txBox="1"/>
            <p:nvPr/>
          </p:nvSpPr>
          <p:spPr>
            <a:xfrm>
              <a:off x="0" y="-9525"/>
              <a:ext cx="14468323" cy="8436831"/>
            </a:xfrm>
            <a:prstGeom prst="rect">
              <a:avLst/>
            </a:prstGeom>
          </p:spPr>
          <p:txBody>
            <a:bodyPr lIns="0" tIns="0" rIns="0" bIns="0" rtlCol="0" anchor="ctr"/>
            <a:lstStyle/>
            <a:p>
              <a:pPr algn="l">
                <a:lnSpc>
                  <a:spcPts val="2880"/>
                </a:lnSpc>
              </a:pPr>
              <a:r>
                <a:rPr lang="en-US" sz="2400" dirty="0">
                  <a:solidFill>
                    <a:srgbClr val="FFFFFF"/>
                  </a:solidFill>
                  <a:latin typeface="Century Gothic" panose="020B0502020202020204" pitchFamily="34" charset="0"/>
                  <a:ea typeface="Arimo"/>
                  <a:cs typeface="Arimo"/>
                  <a:sym typeface="Arimo"/>
                </a:rPr>
                <a:t>Data cleaning: Utilized functions like remove duplicates to ensure data accuracy</a:t>
              </a:r>
            </a:p>
            <a:p>
              <a:pPr algn="l">
                <a:lnSpc>
                  <a:spcPts val="2880"/>
                </a:lnSpc>
              </a:pPr>
              <a:r>
                <a:rPr lang="en-US" sz="2400" dirty="0">
                  <a:solidFill>
                    <a:srgbClr val="FFFFFF"/>
                  </a:solidFill>
                  <a:latin typeface="Century Gothic" panose="020B0502020202020204" pitchFamily="34" charset="0"/>
                  <a:ea typeface="Arimo"/>
                  <a:cs typeface="Arimo"/>
                  <a:sym typeface="Arimo"/>
                </a:rPr>
                <a:t>Data enrichment: Enhanced the dataset with additional variables like date , month , day using  TEXT function to cross reference external data sources.</a:t>
              </a:r>
            </a:p>
            <a:p>
              <a:pPr algn="l">
                <a:lnSpc>
                  <a:spcPts val="2880"/>
                </a:lnSpc>
              </a:pPr>
              <a:r>
                <a:rPr lang="en-US" sz="2400" dirty="0">
                  <a:solidFill>
                    <a:srgbClr val="FFFFFF"/>
                  </a:solidFill>
                  <a:latin typeface="Century Gothic" panose="020B0502020202020204" pitchFamily="34" charset="0"/>
                  <a:ea typeface="Arimo"/>
                  <a:cs typeface="Arimo"/>
                  <a:sym typeface="Arimo"/>
                </a:rPr>
                <a:t>Used search function like </a:t>
              </a:r>
              <a:r>
                <a:rPr lang="en-US" sz="2400" dirty="0" err="1">
                  <a:solidFill>
                    <a:srgbClr val="FFFFFF"/>
                  </a:solidFill>
                  <a:latin typeface="Century Gothic" panose="020B0502020202020204" pitchFamily="34" charset="0"/>
                  <a:ea typeface="Arimo"/>
                  <a:cs typeface="Arimo"/>
                  <a:sym typeface="Arimo"/>
                </a:rPr>
                <a:t>VLookup</a:t>
              </a:r>
              <a:r>
                <a:rPr lang="en-US" sz="2400" dirty="0">
                  <a:solidFill>
                    <a:srgbClr val="FFFFFF"/>
                  </a:solidFill>
                  <a:latin typeface="Century Gothic" panose="020B0502020202020204" pitchFamily="34" charset="0"/>
                  <a:ea typeface="Arimo"/>
                  <a:cs typeface="Arimo"/>
                  <a:sym typeface="Arimo"/>
                </a:rPr>
                <a:t>, </a:t>
              </a:r>
              <a:r>
                <a:rPr lang="en-US" sz="2400" dirty="0" err="1">
                  <a:solidFill>
                    <a:srgbClr val="FFFFFF"/>
                  </a:solidFill>
                  <a:latin typeface="Century Gothic" panose="020B0502020202020204" pitchFamily="34" charset="0"/>
                  <a:ea typeface="Arimo"/>
                  <a:cs typeface="Arimo"/>
                  <a:sym typeface="Arimo"/>
                </a:rPr>
                <a:t>XLookup</a:t>
              </a:r>
              <a:r>
                <a:rPr lang="en-US" sz="2400" dirty="0">
                  <a:solidFill>
                    <a:srgbClr val="FFFFFF"/>
                  </a:solidFill>
                  <a:latin typeface="Century Gothic" panose="020B0502020202020204" pitchFamily="34" charset="0"/>
                  <a:ea typeface="Arimo"/>
                  <a:cs typeface="Arimo"/>
                  <a:sym typeface="Arimo"/>
                </a:rPr>
                <a:t> etc.</a:t>
              </a:r>
            </a:p>
            <a:p>
              <a:pPr algn="l">
                <a:lnSpc>
                  <a:spcPts val="2880"/>
                </a:lnSpc>
              </a:pPr>
              <a:r>
                <a:rPr lang="en-US" sz="2400" dirty="0">
                  <a:solidFill>
                    <a:srgbClr val="FFFFFF"/>
                  </a:solidFill>
                  <a:latin typeface="Century Gothic" panose="020B0502020202020204" pitchFamily="34" charset="0"/>
                  <a:ea typeface="Arimo"/>
                  <a:cs typeface="Arimo"/>
                  <a:sym typeface="Arimo"/>
                </a:rPr>
                <a:t>Descriptive Analysis : Employed Pivot tables for summarizing key metrics and  identifying the patterns and chart.</a:t>
              </a:r>
            </a:p>
            <a:p>
              <a:pPr algn="l">
                <a:lnSpc>
                  <a:spcPts val="2880"/>
                </a:lnSpc>
              </a:pPr>
              <a:r>
                <a:rPr lang="en-US" sz="2400" dirty="0">
                  <a:solidFill>
                    <a:srgbClr val="FFFFFF"/>
                  </a:solidFill>
                  <a:latin typeface="Century Gothic" panose="020B0502020202020204" pitchFamily="34" charset="0"/>
                  <a:ea typeface="Arimo"/>
                  <a:cs typeface="Arimo"/>
                  <a:sym typeface="Arimo"/>
                </a:rPr>
                <a:t>Trend Analysis: Conducted time series analysis using trend  chart</a:t>
              </a:r>
            </a:p>
            <a:p>
              <a:pPr algn="l">
                <a:lnSpc>
                  <a:spcPts val="2880"/>
                </a:lnSpc>
              </a:pPr>
              <a:r>
                <a:rPr lang="en-US" sz="2400" dirty="0">
                  <a:solidFill>
                    <a:srgbClr val="FFFFFF"/>
                  </a:solidFill>
                  <a:latin typeface="Century Gothic" panose="020B0502020202020204" pitchFamily="34" charset="0"/>
                  <a:ea typeface="Arimo"/>
                  <a:cs typeface="Arimo"/>
                  <a:sym typeface="Arimo"/>
                </a:rPr>
                <a:t>Visualization: created dynamic charts and dashboards for data Representation ,enabling interactive data Exploration</a:t>
              </a:r>
            </a:p>
            <a:p>
              <a:pPr algn="l">
                <a:lnSpc>
                  <a:spcPts val="2880"/>
                </a:lnSpc>
              </a:pPr>
              <a:r>
                <a:rPr lang="en-US" sz="2400" dirty="0">
                  <a:solidFill>
                    <a:srgbClr val="FFFFFF"/>
                  </a:solidFill>
                  <a:latin typeface="Century Gothic" panose="020B0502020202020204" pitchFamily="34" charset="0"/>
                  <a:ea typeface="Arimo"/>
                  <a:cs typeface="Arimo"/>
                  <a:sym typeface="Arimo"/>
                </a:rPr>
                <a:t>Slice: using slicer we can see the monthly , daily trends of call</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68" y="-186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dirty="0">
              <a:latin typeface="Century Gothic" panose="020B0502020202020204" pitchFamily="34" charset="0"/>
            </a:endParaRPr>
          </a:p>
        </p:txBody>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770598" y="2753849"/>
            <a:ext cx="6355501" cy="6135036"/>
            <a:chOff x="0" y="0"/>
            <a:chExt cx="8474001" cy="8180049"/>
          </a:xfrm>
        </p:grpSpPr>
        <p:sp>
          <p:nvSpPr>
            <p:cNvPr id="9" name="Freeform 9"/>
            <p:cNvSpPr/>
            <p:nvPr/>
          </p:nvSpPr>
          <p:spPr>
            <a:xfrm>
              <a:off x="0" y="0"/>
              <a:ext cx="8473998" cy="8180053"/>
            </a:xfrm>
            <a:custGeom>
              <a:avLst/>
              <a:gdLst/>
              <a:ahLst/>
              <a:cxnLst/>
              <a:rect l="l" t="t" r="r" b="b"/>
              <a:pathLst>
                <a:path w="8473998" h="8180053">
                  <a:moveTo>
                    <a:pt x="0" y="0"/>
                  </a:moveTo>
                  <a:lnTo>
                    <a:pt x="8473998" y="0"/>
                  </a:lnTo>
                  <a:lnTo>
                    <a:pt x="8473998" y="8180053"/>
                  </a:lnTo>
                  <a:lnTo>
                    <a:pt x="0" y="8180053"/>
                  </a:lnTo>
                  <a:close/>
                </a:path>
              </a:pathLst>
            </a:custGeom>
            <a:blipFill>
              <a:blip r:embed="rId4">
                <a:alphaModFix amt="0"/>
              </a:blip>
              <a:stretch>
                <a:fillRect t="-31710" r="-113015" b="45714"/>
              </a:stretch>
            </a:blipFill>
          </p:spPr>
        </p:sp>
        <p:sp>
          <p:nvSpPr>
            <p:cNvPr id="10" name="TextBox 10"/>
            <p:cNvSpPr txBox="1"/>
            <p:nvPr/>
          </p:nvSpPr>
          <p:spPr>
            <a:xfrm>
              <a:off x="0" y="-19050"/>
              <a:ext cx="8474001" cy="8199099"/>
            </a:xfrm>
            <a:prstGeom prst="rect">
              <a:avLst/>
            </a:prstGeom>
          </p:spPr>
          <p:txBody>
            <a:bodyPr lIns="0" tIns="0" rIns="0" bIns="0" rtlCol="0" anchor="ctr"/>
            <a:lstStyle/>
            <a:p>
              <a:pPr marL="452438" lvl="1" indent="-226219" algn="l">
                <a:lnSpc>
                  <a:spcPts val="3000"/>
                </a:lnSpc>
                <a:buFont typeface="Arial"/>
                <a:buChar char="•"/>
              </a:pPr>
              <a:r>
                <a:rPr lang="en-US" sz="2500" dirty="0" err="1">
                  <a:solidFill>
                    <a:srgbClr val="FFFFFF"/>
                  </a:solidFill>
                  <a:latin typeface="Century Gothic" panose="020B0502020202020204" pitchFamily="34" charset="0"/>
                  <a:ea typeface="Arimo"/>
                  <a:cs typeface="Arimo"/>
                  <a:sym typeface="Arimo"/>
                </a:rPr>
                <a:t>Gurucool</a:t>
              </a:r>
              <a:r>
                <a:rPr lang="en-US" sz="2500" dirty="0">
                  <a:solidFill>
                    <a:srgbClr val="FFFFFF"/>
                  </a:solidFill>
                  <a:latin typeface="Century Gothic" panose="020B0502020202020204" pitchFamily="34" charset="0"/>
                  <a:ea typeface="Arimo"/>
                  <a:cs typeface="Arimo"/>
                  <a:sym typeface="Arimo"/>
                </a:rPr>
                <a:t> generates the highest share of consultations</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App-based consultations form a secondary but significant channel</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Dashboard-based consultations contribute comparatively less</a:t>
              </a:r>
            </a:p>
          </p:txBody>
        </p:sp>
      </p:grpSp>
      <p:pic>
        <p:nvPicPr>
          <p:cNvPr id="11" name="Picture 11"/>
          <p:cNvPicPr>
            <a:picLocks noChangeAspect="1"/>
          </p:cNvPicPr>
          <p:nvPr/>
        </p:nvPicPr>
        <p:blipFill>
          <a:blip r:embed="rId5"/>
          <a:stretch>
            <a:fillRect/>
          </a:stretch>
        </p:blipFill>
        <p:spPr>
          <a:xfrm>
            <a:off x="7861415" y="3868012"/>
            <a:ext cx="8193553" cy="4974343"/>
          </a:xfrm>
          <a:prstGeom prst="rect">
            <a:avLst/>
          </a:prstGeom>
        </p:spPr>
      </p:pic>
      <p:sp>
        <p:nvSpPr>
          <p:cNvPr id="12" name="TextBox 12"/>
          <p:cNvSpPr txBox="1"/>
          <p:nvPr/>
        </p:nvSpPr>
        <p:spPr>
          <a:xfrm>
            <a:off x="1770598" y="1162030"/>
            <a:ext cx="13660698" cy="1209675"/>
          </a:xfrm>
          <a:prstGeom prst="rect">
            <a:avLst/>
          </a:prstGeom>
        </p:spPr>
        <p:txBody>
          <a:bodyPr lIns="0" tIns="0" rIns="0" bIns="0" rtlCol="0" anchor="t">
            <a:spAutoFit/>
          </a:bodyPr>
          <a:lstStyle/>
          <a:p>
            <a:pPr algn="ctr">
              <a:lnSpc>
                <a:spcPts val="4799"/>
              </a:lnSpc>
            </a:pPr>
            <a:r>
              <a:rPr lang="en-US" sz="3999" b="1" dirty="0">
                <a:solidFill>
                  <a:srgbClr val="C00000"/>
                </a:solidFill>
                <a:latin typeface="Arimo Bold"/>
                <a:ea typeface="Arimo Bold"/>
                <a:cs typeface="Arimo Bold"/>
                <a:sym typeface="Arimo Bold"/>
              </a:rPr>
              <a:t>Majority of Consultations Originate from </a:t>
            </a:r>
            <a:r>
              <a:rPr lang="en-US" sz="3999" b="1" dirty="0" err="1">
                <a:solidFill>
                  <a:srgbClr val="C00000"/>
                </a:solidFill>
                <a:latin typeface="Arimo Bold"/>
                <a:ea typeface="Arimo Bold"/>
                <a:cs typeface="Arimo Bold"/>
                <a:sym typeface="Arimo Bold"/>
              </a:rPr>
              <a:t>Gurucool</a:t>
            </a:r>
            <a:r>
              <a:rPr lang="en-US" sz="3999" b="1" dirty="0">
                <a:solidFill>
                  <a:srgbClr val="C00000"/>
                </a:solidFill>
                <a:latin typeface="Arimo Bold"/>
                <a:ea typeface="Arimo Bold"/>
                <a:cs typeface="Arimo Bold"/>
                <a:sym typeface="Arimo Bold"/>
              </a:rPr>
              <a:t> Platform</a:t>
            </a:r>
          </a:p>
        </p:txBody>
      </p:sp>
      <p:sp>
        <p:nvSpPr>
          <p:cNvPr id="13" name="TextBox 12"/>
          <p:cNvSpPr txBox="1"/>
          <p:nvPr/>
        </p:nvSpPr>
        <p:spPr>
          <a:xfrm>
            <a:off x="9730372" y="3470980"/>
            <a:ext cx="6324600" cy="461665"/>
          </a:xfrm>
          <a:prstGeom prst="rect">
            <a:avLst/>
          </a:prstGeom>
          <a:noFill/>
        </p:spPr>
        <p:txBody>
          <a:bodyPr wrap="square" rtlCol="0">
            <a:spAutoFit/>
          </a:bodyPr>
          <a:lstStyle/>
          <a:p>
            <a:r>
              <a:rPr lang="en-GB" sz="2400" b="1" dirty="0" smtClean="0">
                <a:solidFill>
                  <a:srgbClr val="FF0000"/>
                </a:solidFill>
                <a:latin typeface="Century Gothic" panose="020B0502020202020204" pitchFamily="34" charset="0"/>
              </a:rPr>
              <a:t>Consultations by platform</a:t>
            </a:r>
            <a:endParaRPr lang="en-IN" sz="2400" b="1" dirty="0">
              <a:solidFill>
                <a:srgbClr val="FF0000"/>
              </a:solidFill>
              <a:latin typeface="Century Gothic" panose="020B0502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411565" y="3086998"/>
            <a:ext cx="8410138" cy="2416070"/>
            <a:chOff x="0" y="0"/>
            <a:chExt cx="11213517" cy="3221426"/>
          </a:xfrm>
        </p:grpSpPr>
        <p:sp>
          <p:nvSpPr>
            <p:cNvPr id="9" name="Freeform 9"/>
            <p:cNvSpPr/>
            <p:nvPr/>
          </p:nvSpPr>
          <p:spPr>
            <a:xfrm>
              <a:off x="0" y="0"/>
              <a:ext cx="11213515" cy="3221430"/>
            </a:xfrm>
            <a:custGeom>
              <a:avLst/>
              <a:gdLst/>
              <a:ahLst/>
              <a:cxnLst/>
              <a:rect l="l" t="t" r="r" b="b"/>
              <a:pathLst>
                <a:path w="11213515" h="3221430">
                  <a:moveTo>
                    <a:pt x="0" y="0"/>
                  </a:moveTo>
                  <a:lnTo>
                    <a:pt x="11213515" y="0"/>
                  </a:lnTo>
                  <a:lnTo>
                    <a:pt x="11213515" y="3221430"/>
                  </a:lnTo>
                  <a:lnTo>
                    <a:pt x="0" y="3221430"/>
                  </a:lnTo>
                  <a:close/>
                </a:path>
              </a:pathLst>
            </a:custGeom>
            <a:blipFill>
              <a:blip r:embed="rId4">
                <a:alphaModFix amt="0"/>
              </a:blip>
              <a:stretch>
                <a:fillRect t="-90545" r="-75755" b="-47869"/>
              </a:stretch>
            </a:blipFill>
          </p:spPr>
        </p:sp>
        <p:sp>
          <p:nvSpPr>
            <p:cNvPr id="10" name="TextBox 10"/>
            <p:cNvSpPr txBox="1"/>
            <p:nvPr/>
          </p:nvSpPr>
          <p:spPr>
            <a:xfrm>
              <a:off x="0" y="-19050"/>
              <a:ext cx="11213517" cy="3240476"/>
            </a:xfrm>
            <a:prstGeom prst="rect">
              <a:avLst/>
            </a:prstGeom>
          </p:spPr>
          <p:txBody>
            <a:bodyPr lIns="0" tIns="0" rIns="0" bIns="0" rtlCol="0" anchor="ctr"/>
            <a:lstStyle/>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A small group of astrologers consistently receives higher customer ratings</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Rating distribution shows clear performance differences among top gurus</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High-rated gurus contribute strongly to customer trust and satisfaction</a:t>
              </a:r>
            </a:p>
          </p:txBody>
        </p:sp>
      </p:grpSp>
      <p:sp>
        <p:nvSpPr>
          <p:cNvPr id="11" name="Freeform 11"/>
          <p:cNvSpPr/>
          <p:nvPr/>
        </p:nvSpPr>
        <p:spPr>
          <a:xfrm>
            <a:off x="4503716" y="5821367"/>
            <a:ext cx="12755584" cy="3245411"/>
          </a:xfrm>
          <a:custGeom>
            <a:avLst/>
            <a:gdLst/>
            <a:ahLst/>
            <a:cxnLst/>
            <a:rect l="l" t="t" r="r" b="b"/>
            <a:pathLst>
              <a:path w="12755584" h="3245411">
                <a:moveTo>
                  <a:pt x="0" y="0"/>
                </a:moveTo>
                <a:lnTo>
                  <a:pt x="12755584" y="0"/>
                </a:lnTo>
                <a:lnTo>
                  <a:pt x="12755584" y="3245411"/>
                </a:lnTo>
                <a:lnTo>
                  <a:pt x="0" y="3245411"/>
                </a:lnTo>
                <a:lnTo>
                  <a:pt x="0" y="0"/>
                </a:lnTo>
                <a:close/>
              </a:path>
            </a:pathLst>
          </a:custGeom>
          <a:blipFill>
            <a:blip r:embed="rId5"/>
            <a:stretch>
              <a:fillRect t="-5873" b="-90643"/>
            </a:stretch>
          </a:blipFill>
        </p:spPr>
      </p:sp>
      <p:sp>
        <p:nvSpPr>
          <p:cNvPr id="12" name="TextBox 12"/>
          <p:cNvSpPr txBox="1"/>
          <p:nvPr/>
        </p:nvSpPr>
        <p:spPr>
          <a:xfrm>
            <a:off x="1028700" y="1553851"/>
            <a:ext cx="13428393" cy="609600"/>
          </a:xfrm>
          <a:prstGeom prst="rect">
            <a:avLst/>
          </a:prstGeom>
        </p:spPr>
        <p:txBody>
          <a:bodyPr lIns="0" tIns="0" rIns="0" bIns="0" rtlCol="0" anchor="t">
            <a:spAutoFit/>
          </a:bodyPr>
          <a:lstStyle/>
          <a:p>
            <a:pPr algn="ctr">
              <a:lnSpc>
                <a:spcPts val="4799"/>
              </a:lnSpc>
            </a:pPr>
            <a:r>
              <a:rPr lang="en-US" sz="3999" b="1" dirty="0">
                <a:solidFill>
                  <a:srgbClr val="C00000"/>
                </a:solidFill>
                <a:latin typeface="Arimo Bold"/>
                <a:ea typeface="Arimo Bold"/>
                <a:cs typeface="Arimo Bold"/>
                <a:sym typeface="Arimo Bold"/>
              </a:rPr>
              <a:t>Top 10 Astrologers Based on Customer Ratings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7ABD5"/>
        </a:solidFill>
        <a:effectLst/>
      </p:bgPr>
    </p:bg>
    <p:spTree>
      <p:nvGrpSpPr>
        <p:cNvPr id="1" name=""/>
        <p:cNvGrpSpPr/>
        <p:nvPr/>
      </p:nvGrpSpPr>
      <p:grpSpPr>
        <a:xfrm>
          <a:off x="0" y="0"/>
          <a:ext cx="0" cy="0"/>
          <a:chOff x="0" y="0"/>
          <a:chExt cx="0" cy="0"/>
        </a:xfrm>
      </p:grpSpPr>
      <p:sp>
        <p:nvSpPr>
          <p:cNvPr id="2" name="AutoShape 2"/>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3" name="AutoShape 3"/>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6" name="AutoShape 6"/>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pic>
        <p:nvPicPr>
          <p:cNvPr id="7" name="Picture 7"/>
          <p:cNvPicPr>
            <a:picLocks noChangeAspect="1"/>
          </p:cNvPicPr>
          <p:nvPr/>
        </p:nvPicPr>
        <p:blipFill>
          <a:blip r:embed="rId2"/>
          <a:stretch>
            <a:fillRect/>
          </a:stretch>
        </p:blipFill>
        <p:spPr>
          <a:xfrm>
            <a:off x="7668505" y="2876616"/>
            <a:ext cx="8056478" cy="5233851"/>
          </a:xfrm>
          <a:prstGeom prst="rect">
            <a:avLst/>
          </a:prstGeom>
        </p:spPr>
      </p:pic>
      <p:sp>
        <p:nvSpPr>
          <p:cNvPr id="8" name="TextBox 8"/>
          <p:cNvSpPr txBox="1"/>
          <p:nvPr/>
        </p:nvSpPr>
        <p:spPr>
          <a:xfrm>
            <a:off x="1028700" y="1504261"/>
            <a:ext cx="14218920" cy="609600"/>
          </a:xfrm>
          <a:prstGeom prst="rect">
            <a:avLst/>
          </a:prstGeom>
        </p:spPr>
        <p:txBody>
          <a:bodyPr lIns="0" tIns="0" rIns="0" bIns="0" rtlCol="0" anchor="t">
            <a:spAutoFit/>
          </a:bodyPr>
          <a:lstStyle/>
          <a:p>
            <a:pPr algn="ctr">
              <a:lnSpc>
                <a:spcPts val="4799"/>
              </a:lnSpc>
            </a:pPr>
            <a:r>
              <a:rPr lang="en-US" sz="3999" b="1">
                <a:solidFill>
                  <a:srgbClr val="C00000"/>
                </a:solidFill>
                <a:latin typeface="Arimo Bold"/>
                <a:ea typeface="Arimo Bold"/>
                <a:cs typeface="Arimo Bold"/>
                <a:sym typeface="Arimo Bold"/>
              </a:rPr>
              <a:t>Most Calls Are Successfully Completed</a:t>
            </a:r>
          </a:p>
        </p:txBody>
      </p:sp>
      <p:grpSp>
        <p:nvGrpSpPr>
          <p:cNvPr id="9" name="Group 9"/>
          <p:cNvGrpSpPr/>
          <p:nvPr/>
        </p:nvGrpSpPr>
        <p:grpSpPr>
          <a:xfrm>
            <a:off x="1028700" y="3778600"/>
            <a:ext cx="7675785" cy="2283717"/>
            <a:chOff x="0" y="0"/>
            <a:chExt cx="9120077" cy="2713426"/>
          </a:xfrm>
        </p:grpSpPr>
        <p:sp>
          <p:nvSpPr>
            <p:cNvPr id="10" name="Freeform 10"/>
            <p:cNvSpPr/>
            <p:nvPr/>
          </p:nvSpPr>
          <p:spPr>
            <a:xfrm>
              <a:off x="0" y="0"/>
              <a:ext cx="9120075" cy="2713431"/>
            </a:xfrm>
            <a:custGeom>
              <a:avLst/>
              <a:gdLst/>
              <a:ahLst/>
              <a:cxnLst/>
              <a:rect l="l" t="t" r="r" b="b"/>
              <a:pathLst>
                <a:path w="9120075" h="2713431">
                  <a:moveTo>
                    <a:pt x="0" y="0"/>
                  </a:moveTo>
                  <a:lnTo>
                    <a:pt x="9120075" y="0"/>
                  </a:lnTo>
                  <a:lnTo>
                    <a:pt x="9120075" y="2713431"/>
                  </a:lnTo>
                  <a:lnTo>
                    <a:pt x="0" y="2713431"/>
                  </a:lnTo>
                  <a:close/>
                </a:path>
              </a:pathLst>
            </a:custGeom>
            <a:solidFill>
              <a:srgbClr val="D4B869">
                <a:alpha val="0"/>
              </a:srgbClr>
            </a:solidFill>
          </p:spPr>
        </p:sp>
        <p:sp>
          <p:nvSpPr>
            <p:cNvPr id="11" name="TextBox 11"/>
            <p:cNvSpPr txBox="1"/>
            <p:nvPr/>
          </p:nvSpPr>
          <p:spPr>
            <a:xfrm>
              <a:off x="0" y="-19050"/>
              <a:ext cx="9120077" cy="2732476"/>
            </a:xfrm>
            <a:prstGeom prst="rect">
              <a:avLst/>
            </a:prstGeom>
          </p:spPr>
          <p:txBody>
            <a:bodyPr lIns="0" tIns="0" rIns="0" bIns="0" rtlCol="0" anchor="ctr"/>
            <a:lstStyle/>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A large majority of calls reach successful completion</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A smaller portion of calls remain busy or incomplete</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Call handling efficiency is relatively strong</a:t>
              </a:r>
            </a:p>
          </p:txBody>
        </p:sp>
      </p:grpSp>
      <p:sp>
        <p:nvSpPr>
          <p:cNvPr id="12" name="TextBox 11"/>
          <p:cNvSpPr txBox="1"/>
          <p:nvPr/>
        </p:nvSpPr>
        <p:spPr>
          <a:xfrm>
            <a:off x="10287000" y="2559422"/>
            <a:ext cx="6858000" cy="461665"/>
          </a:xfrm>
          <a:prstGeom prst="rect">
            <a:avLst/>
          </a:prstGeom>
          <a:noFill/>
        </p:spPr>
        <p:txBody>
          <a:bodyPr wrap="square" rtlCol="0">
            <a:spAutoFit/>
          </a:bodyPr>
          <a:lstStyle/>
          <a:p>
            <a:r>
              <a:rPr lang="en-GB" sz="2400" b="1" dirty="0" smtClean="0">
                <a:solidFill>
                  <a:srgbClr val="FF0000"/>
                </a:solidFill>
              </a:rPr>
              <a:t>Call Completion status</a:t>
            </a:r>
            <a:endParaRPr lang="en-IN" sz="2400" b="1" dirty="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pic>
        <p:nvPicPr>
          <p:cNvPr id="8" name="Picture 8"/>
          <p:cNvPicPr>
            <a:picLocks noChangeAspect="1"/>
          </p:cNvPicPr>
          <p:nvPr/>
        </p:nvPicPr>
        <p:blipFill>
          <a:blip r:embed="rId4"/>
          <a:stretch>
            <a:fillRect/>
          </a:stretch>
        </p:blipFill>
        <p:spPr>
          <a:xfrm>
            <a:off x="7815043" y="3429477"/>
            <a:ext cx="6932506" cy="5017776"/>
          </a:xfrm>
          <a:prstGeom prst="rect">
            <a:avLst/>
          </a:prstGeom>
        </p:spPr>
      </p:pic>
      <p:sp>
        <p:nvSpPr>
          <p:cNvPr id="9" name="TextBox 9"/>
          <p:cNvSpPr txBox="1"/>
          <p:nvPr/>
        </p:nvSpPr>
        <p:spPr>
          <a:xfrm>
            <a:off x="1739143" y="1240960"/>
            <a:ext cx="13441089" cy="1209675"/>
          </a:xfrm>
          <a:prstGeom prst="rect">
            <a:avLst/>
          </a:prstGeom>
        </p:spPr>
        <p:txBody>
          <a:bodyPr lIns="0" tIns="0" rIns="0" bIns="0" rtlCol="0" anchor="t">
            <a:spAutoFit/>
          </a:bodyPr>
          <a:lstStyle/>
          <a:p>
            <a:pPr algn="ctr">
              <a:lnSpc>
                <a:spcPts val="4799"/>
              </a:lnSpc>
            </a:pPr>
            <a:r>
              <a:rPr lang="en-US" sz="3999" b="1">
                <a:solidFill>
                  <a:srgbClr val="C00000"/>
                </a:solidFill>
                <a:latin typeface="Arimo Bold"/>
                <a:ea typeface="Arimo Bold"/>
                <a:cs typeface="Arimo Bold"/>
                <a:sym typeface="Arimo Bold"/>
              </a:rPr>
              <a:t>Higher Incompletion Rate Observed in Chat Consultations</a:t>
            </a:r>
          </a:p>
        </p:txBody>
      </p:sp>
      <p:grpSp>
        <p:nvGrpSpPr>
          <p:cNvPr id="10" name="Group 10"/>
          <p:cNvGrpSpPr/>
          <p:nvPr/>
        </p:nvGrpSpPr>
        <p:grpSpPr>
          <a:xfrm>
            <a:off x="1574422" y="2781548"/>
            <a:ext cx="6238348" cy="4669384"/>
            <a:chOff x="0" y="0"/>
            <a:chExt cx="8317797" cy="6225846"/>
          </a:xfrm>
        </p:grpSpPr>
        <p:sp>
          <p:nvSpPr>
            <p:cNvPr id="11" name="Freeform 11"/>
            <p:cNvSpPr/>
            <p:nvPr/>
          </p:nvSpPr>
          <p:spPr>
            <a:xfrm>
              <a:off x="0" y="0"/>
              <a:ext cx="8317795" cy="6225849"/>
            </a:xfrm>
            <a:custGeom>
              <a:avLst/>
              <a:gdLst/>
              <a:ahLst/>
              <a:cxnLst/>
              <a:rect l="l" t="t" r="r" b="b"/>
              <a:pathLst>
                <a:path w="8317795" h="6225849">
                  <a:moveTo>
                    <a:pt x="0" y="0"/>
                  </a:moveTo>
                  <a:lnTo>
                    <a:pt x="8317795" y="0"/>
                  </a:lnTo>
                  <a:lnTo>
                    <a:pt x="8317795" y="6225849"/>
                  </a:lnTo>
                  <a:lnTo>
                    <a:pt x="0" y="6225849"/>
                  </a:lnTo>
                  <a:close/>
                </a:path>
              </a:pathLst>
            </a:custGeom>
            <a:blipFill>
              <a:blip r:embed="rId5">
                <a:alphaModFix amt="0"/>
              </a:blip>
              <a:stretch>
                <a:fillRect t="-46963" r="-137373" b="23375"/>
              </a:stretch>
            </a:blipFill>
          </p:spPr>
        </p:sp>
        <p:sp>
          <p:nvSpPr>
            <p:cNvPr id="12" name="TextBox 12"/>
            <p:cNvSpPr txBox="1"/>
            <p:nvPr/>
          </p:nvSpPr>
          <p:spPr>
            <a:xfrm>
              <a:off x="0" y="-19050"/>
              <a:ext cx="8317797" cy="6244896"/>
            </a:xfrm>
            <a:prstGeom prst="rect">
              <a:avLst/>
            </a:prstGeom>
          </p:spPr>
          <p:txBody>
            <a:bodyPr lIns="0" tIns="0" rIns="0" bIns="0" rtlCol="0" anchor="ctr"/>
            <a:lstStyle/>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Incomplete chats form a significant portion of total chat volume</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Chat consultations face more drop-offs compared to calls</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Indicates need for improved chat handling mechanisms</a:t>
              </a:r>
            </a:p>
          </p:txBody>
        </p:sp>
      </p:grpSp>
      <p:sp>
        <p:nvSpPr>
          <p:cNvPr id="13" name="TextBox 12"/>
          <p:cNvSpPr txBox="1"/>
          <p:nvPr/>
        </p:nvSpPr>
        <p:spPr>
          <a:xfrm>
            <a:off x="8763000" y="2967812"/>
            <a:ext cx="5257800" cy="461665"/>
          </a:xfrm>
          <a:prstGeom prst="rect">
            <a:avLst/>
          </a:prstGeom>
          <a:noFill/>
        </p:spPr>
        <p:txBody>
          <a:bodyPr wrap="square" rtlCol="0">
            <a:spAutoFit/>
          </a:bodyPr>
          <a:lstStyle/>
          <a:p>
            <a:r>
              <a:rPr lang="en-GB" sz="2400" b="1" dirty="0" smtClean="0">
                <a:solidFill>
                  <a:srgbClr val="FF0000"/>
                </a:solidFill>
              </a:rPr>
              <a:t>Chat Consultation Completion Status</a:t>
            </a:r>
            <a:endParaRPr lang="en-IN" sz="2400" b="1" dirty="0">
              <a:solidFill>
                <a:srgbClr val="FF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305381" y="4000539"/>
            <a:ext cx="6743700" cy="1546136"/>
            <a:chOff x="0" y="0"/>
            <a:chExt cx="19611480" cy="2061514"/>
          </a:xfrm>
        </p:grpSpPr>
        <p:sp>
          <p:nvSpPr>
            <p:cNvPr id="9" name="Freeform 9"/>
            <p:cNvSpPr/>
            <p:nvPr/>
          </p:nvSpPr>
          <p:spPr>
            <a:xfrm>
              <a:off x="0" y="0"/>
              <a:ext cx="19611487" cy="2061513"/>
            </a:xfrm>
            <a:custGeom>
              <a:avLst/>
              <a:gdLst/>
              <a:ahLst/>
              <a:cxnLst/>
              <a:rect l="l" t="t" r="r" b="b"/>
              <a:pathLst>
                <a:path w="19611487" h="2061513">
                  <a:moveTo>
                    <a:pt x="0" y="0"/>
                  </a:moveTo>
                  <a:lnTo>
                    <a:pt x="19611487" y="0"/>
                  </a:lnTo>
                  <a:lnTo>
                    <a:pt x="19611487" y="2061513"/>
                  </a:lnTo>
                  <a:lnTo>
                    <a:pt x="0" y="2061513"/>
                  </a:lnTo>
                  <a:close/>
                </a:path>
              </a:pathLst>
            </a:custGeom>
            <a:blipFill>
              <a:blip r:embed="rId4">
                <a:alphaModFix amt="0"/>
              </a:blip>
              <a:stretch>
                <a:fillRect t="-135364" b="-135364"/>
              </a:stretch>
            </a:blipFill>
          </p:spPr>
        </p:sp>
        <p:sp>
          <p:nvSpPr>
            <p:cNvPr id="10" name="TextBox 10"/>
            <p:cNvSpPr txBox="1"/>
            <p:nvPr/>
          </p:nvSpPr>
          <p:spPr>
            <a:xfrm>
              <a:off x="0" y="-19050"/>
              <a:ext cx="19611480" cy="2080564"/>
            </a:xfrm>
            <a:prstGeom prst="rect">
              <a:avLst/>
            </a:prstGeom>
          </p:spPr>
          <p:txBody>
            <a:bodyPr lIns="0" tIns="0" rIns="0" bIns="0" rtlCol="0" anchor="ctr"/>
            <a:lstStyle/>
            <a:p>
              <a:pPr marL="452440" lvl="1" indent="-226220"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Majority of users provide average or poor ratings</a:t>
              </a:r>
            </a:p>
            <a:p>
              <a:pPr marL="452440" lvl="1" indent="-226220"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Fewer users report excellent experiences</a:t>
              </a:r>
            </a:p>
            <a:p>
              <a:pPr marL="452440" lvl="1" indent="-226220"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Overall customer satisfaction has room for improvement</a:t>
              </a:r>
            </a:p>
          </p:txBody>
        </p:sp>
      </p:grpSp>
      <p:pic>
        <p:nvPicPr>
          <p:cNvPr id="11" name="Picture 11"/>
          <p:cNvPicPr>
            <a:picLocks noChangeAspect="1"/>
          </p:cNvPicPr>
          <p:nvPr/>
        </p:nvPicPr>
        <p:blipFill>
          <a:blip r:embed="rId5"/>
          <a:stretch>
            <a:fillRect/>
          </a:stretch>
        </p:blipFill>
        <p:spPr>
          <a:xfrm>
            <a:off x="8020868" y="2933700"/>
            <a:ext cx="7226714" cy="5467350"/>
          </a:xfrm>
          <a:prstGeom prst="rect">
            <a:avLst/>
          </a:prstGeom>
        </p:spPr>
      </p:pic>
      <p:sp>
        <p:nvSpPr>
          <p:cNvPr id="12" name="TextBox 12"/>
          <p:cNvSpPr txBox="1"/>
          <p:nvPr/>
        </p:nvSpPr>
        <p:spPr>
          <a:xfrm>
            <a:off x="1899048" y="1019175"/>
            <a:ext cx="13182076" cy="609600"/>
          </a:xfrm>
          <a:prstGeom prst="rect">
            <a:avLst/>
          </a:prstGeom>
        </p:spPr>
        <p:txBody>
          <a:bodyPr lIns="0" tIns="0" rIns="0" bIns="0" rtlCol="0" anchor="t">
            <a:spAutoFit/>
          </a:bodyPr>
          <a:lstStyle/>
          <a:p>
            <a:pPr algn="ctr">
              <a:lnSpc>
                <a:spcPts val="4799"/>
              </a:lnSpc>
            </a:pPr>
            <a:r>
              <a:rPr lang="en-US" sz="3999" b="1" dirty="0">
                <a:solidFill>
                  <a:srgbClr val="C00000"/>
                </a:solidFill>
                <a:latin typeface="Arimo Bold"/>
                <a:ea typeface="Arimo Bold"/>
                <a:cs typeface="Arimo Bold"/>
                <a:sym typeface="Arimo Bold"/>
              </a:rPr>
              <a:t>Rating Distribution Overview</a:t>
            </a:r>
          </a:p>
        </p:txBody>
      </p:sp>
      <p:sp>
        <p:nvSpPr>
          <p:cNvPr id="13" name="TextBox 12"/>
          <p:cNvSpPr txBox="1"/>
          <p:nvPr/>
        </p:nvSpPr>
        <p:spPr>
          <a:xfrm>
            <a:off x="9601200" y="2378555"/>
            <a:ext cx="5046204" cy="461665"/>
          </a:xfrm>
          <a:prstGeom prst="rect">
            <a:avLst/>
          </a:prstGeom>
          <a:noFill/>
        </p:spPr>
        <p:txBody>
          <a:bodyPr wrap="square" rtlCol="0">
            <a:spAutoFit/>
          </a:bodyPr>
          <a:lstStyle/>
          <a:p>
            <a:r>
              <a:rPr lang="en-GB" sz="2400" b="1" dirty="0" smtClean="0">
                <a:solidFill>
                  <a:srgbClr val="FF0000"/>
                </a:solidFill>
              </a:rPr>
              <a:t>Customer Rating Distribution</a:t>
            </a:r>
            <a:endParaRPr lang="en-IN" sz="2400" b="1" dirty="0">
              <a:solidFill>
                <a:srgbClr val="FF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799" y="-186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pic>
        <p:nvPicPr>
          <p:cNvPr id="8" name="Picture 8"/>
          <p:cNvPicPr>
            <a:picLocks noChangeAspect="1"/>
          </p:cNvPicPr>
          <p:nvPr/>
        </p:nvPicPr>
        <p:blipFill>
          <a:blip r:embed="rId4"/>
          <a:stretch>
            <a:fillRect/>
          </a:stretch>
        </p:blipFill>
        <p:spPr>
          <a:xfrm>
            <a:off x="8868967" y="3750307"/>
            <a:ext cx="7381879" cy="4129995"/>
          </a:xfrm>
          <a:prstGeom prst="rect">
            <a:avLst/>
          </a:prstGeom>
        </p:spPr>
      </p:pic>
      <p:sp>
        <p:nvSpPr>
          <p:cNvPr id="9" name="TextBox 9"/>
          <p:cNvSpPr txBox="1"/>
          <p:nvPr/>
        </p:nvSpPr>
        <p:spPr>
          <a:xfrm>
            <a:off x="1644685" y="1281930"/>
            <a:ext cx="13634723" cy="609600"/>
          </a:xfrm>
          <a:prstGeom prst="rect">
            <a:avLst/>
          </a:prstGeom>
        </p:spPr>
        <p:txBody>
          <a:bodyPr lIns="0" tIns="0" rIns="0" bIns="0" rtlCol="0" anchor="t">
            <a:spAutoFit/>
          </a:bodyPr>
          <a:lstStyle/>
          <a:p>
            <a:pPr algn="ctr">
              <a:lnSpc>
                <a:spcPts val="4799"/>
              </a:lnSpc>
            </a:pPr>
            <a:r>
              <a:rPr lang="en-US" sz="3999" b="1">
                <a:solidFill>
                  <a:srgbClr val="C00000"/>
                </a:solidFill>
                <a:latin typeface="Arimo Bold"/>
                <a:ea typeface="Arimo Bold"/>
                <a:cs typeface="Arimo Bold"/>
                <a:sym typeface="Arimo Bold"/>
              </a:rPr>
              <a:t>Daily Call Volume Shows Fluctuating Demand Pattern</a:t>
            </a:r>
          </a:p>
        </p:txBody>
      </p:sp>
      <p:grpSp>
        <p:nvGrpSpPr>
          <p:cNvPr id="10" name="Group 10"/>
          <p:cNvGrpSpPr/>
          <p:nvPr/>
        </p:nvGrpSpPr>
        <p:grpSpPr>
          <a:xfrm>
            <a:off x="1644685" y="3033622"/>
            <a:ext cx="8610699" cy="3264086"/>
            <a:chOff x="-2810053" y="0"/>
            <a:chExt cx="22821414" cy="4352114"/>
          </a:xfrm>
        </p:grpSpPr>
        <p:sp>
          <p:nvSpPr>
            <p:cNvPr id="11" name="Freeform 11"/>
            <p:cNvSpPr/>
            <p:nvPr/>
          </p:nvSpPr>
          <p:spPr>
            <a:xfrm>
              <a:off x="0" y="0"/>
              <a:ext cx="20011361" cy="1846664"/>
            </a:xfrm>
            <a:custGeom>
              <a:avLst/>
              <a:gdLst/>
              <a:ahLst/>
              <a:cxnLst/>
              <a:rect l="l" t="t" r="r" b="b"/>
              <a:pathLst>
                <a:path w="20011361" h="1846664">
                  <a:moveTo>
                    <a:pt x="0" y="0"/>
                  </a:moveTo>
                  <a:lnTo>
                    <a:pt x="20011361" y="0"/>
                  </a:lnTo>
                  <a:lnTo>
                    <a:pt x="20011361" y="1846664"/>
                  </a:lnTo>
                  <a:lnTo>
                    <a:pt x="0" y="1846664"/>
                  </a:lnTo>
                  <a:close/>
                </a:path>
              </a:pathLst>
            </a:custGeom>
            <a:blipFill>
              <a:blip r:embed="rId5">
                <a:alphaModFix amt="0"/>
              </a:blip>
              <a:stretch>
                <a:fillRect t="-161149" b="-161149"/>
              </a:stretch>
            </a:blipFill>
          </p:spPr>
        </p:sp>
        <p:sp>
          <p:nvSpPr>
            <p:cNvPr id="12" name="TextBox 12"/>
            <p:cNvSpPr txBox="1"/>
            <p:nvPr/>
          </p:nvSpPr>
          <p:spPr>
            <a:xfrm>
              <a:off x="-2810053" y="2486403"/>
              <a:ext cx="20011365" cy="1865711"/>
            </a:xfrm>
            <a:prstGeom prst="rect">
              <a:avLst/>
            </a:prstGeom>
          </p:spPr>
          <p:txBody>
            <a:bodyPr lIns="0" tIns="0" rIns="0" bIns="0" rtlCol="0" anchor="ctr"/>
            <a:lstStyle/>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Call volume varies day-to-day with noticeable fluctuations</a:t>
              </a:r>
            </a:p>
            <a:p>
              <a:pPr marL="488632" lvl="1" indent="-244316" algn="l">
                <a:lnSpc>
                  <a:spcPts val="3240"/>
                </a:lnSpc>
                <a:buFont typeface="Arial"/>
                <a:buChar char="•"/>
              </a:pPr>
              <a:r>
                <a:rPr lang="en-US" sz="2700" dirty="0">
                  <a:solidFill>
                    <a:srgbClr val="FFFFFF"/>
                  </a:solidFill>
                  <a:latin typeface="Century Gothic" panose="020B0502020202020204" pitchFamily="34" charset="0"/>
                  <a:ea typeface="Arimo"/>
                  <a:cs typeface="Arimo"/>
                  <a:sym typeface="Arimo"/>
                </a:rPr>
                <a:t>Some days experience sharp drops indicating lower engagement</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Overall trend suggests demand instability across days</a:t>
              </a:r>
            </a:p>
          </p:txBody>
        </p:sp>
      </p:grpSp>
      <p:sp>
        <p:nvSpPr>
          <p:cNvPr id="13" name="TextBox 12"/>
          <p:cNvSpPr txBox="1"/>
          <p:nvPr/>
        </p:nvSpPr>
        <p:spPr>
          <a:xfrm>
            <a:off x="10334309" y="3012369"/>
            <a:ext cx="6629400" cy="461665"/>
          </a:xfrm>
          <a:prstGeom prst="rect">
            <a:avLst/>
          </a:prstGeom>
          <a:noFill/>
        </p:spPr>
        <p:txBody>
          <a:bodyPr wrap="square" rtlCol="0">
            <a:spAutoFit/>
          </a:bodyPr>
          <a:lstStyle/>
          <a:p>
            <a:r>
              <a:rPr lang="en-GB" sz="2400" b="1" dirty="0" smtClean="0">
                <a:solidFill>
                  <a:srgbClr val="FF0000"/>
                </a:solidFill>
              </a:rPr>
              <a:t>Daily Call Volume Trend</a:t>
            </a:r>
            <a:endParaRPr lang="en-IN" sz="2400" b="1" dirty="0">
              <a:solidFill>
                <a:srgbClr val="FF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sp>
        <p:nvSpPr>
          <p:cNvPr id="8" name="TextBox 8"/>
          <p:cNvSpPr txBox="1"/>
          <p:nvPr/>
        </p:nvSpPr>
        <p:spPr>
          <a:xfrm>
            <a:off x="1201252" y="1201082"/>
            <a:ext cx="13352193" cy="609600"/>
          </a:xfrm>
          <a:prstGeom prst="rect">
            <a:avLst/>
          </a:prstGeom>
        </p:spPr>
        <p:txBody>
          <a:bodyPr lIns="0" tIns="0" rIns="0" bIns="0" rtlCol="0" anchor="t">
            <a:spAutoFit/>
          </a:bodyPr>
          <a:lstStyle/>
          <a:p>
            <a:pPr algn="ctr">
              <a:lnSpc>
                <a:spcPts val="4799"/>
              </a:lnSpc>
            </a:pPr>
            <a:r>
              <a:rPr lang="en-US" sz="3999" b="1">
                <a:solidFill>
                  <a:srgbClr val="C00000"/>
                </a:solidFill>
                <a:latin typeface="Arimo Bold"/>
                <a:ea typeface="Arimo Bold"/>
                <a:cs typeface="Arimo Bold"/>
                <a:sym typeface="Arimo Bold"/>
              </a:rPr>
              <a:t>Peak Call Volumes Observation</a:t>
            </a:r>
          </a:p>
        </p:txBody>
      </p:sp>
      <p:pic>
        <p:nvPicPr>
          <p:cNvPr id="9" name="Picture 9"/>
          <p:cNvPicPr>
            <a:picLocks noChangeAspect="1"/>
          </p:cNvPicPr>
          <p:nvPr/>
        </p:nvPicPr>
        <p:blipFill>
          <a:blip r:embed="rId4"/>
          <a:stretch>
            <a:fillRect/>
          </a:stretch>
        </p:blipFill>
        <p:spPr>
          <a:xfrm>
            <a:off x="7479260" y="3111104"/>
            <a:ext cx="7595241" cy="4759021"/>
          </a:xfrm>
          <a:prstGeom prst="rect">
            <a:avLst/>
          </a:prstGeom>
        </p:spPr>
      </p:pic>
      <p:grpSp>
        <p:nvGrpSpPr>
          <p:cNvPr id="10" name="Group 10"/>
          <p:cNvGrpSpPr/>
          <p:nvPr/>
        </p:nvGrpSpPr>
        <p:grpSpPr>
          <a:xfrm>
            <a:off x="1655582" y="2107802"/>
            <a:ext cx="5947566" cy="4082455"/>
            <a:chOff x="-2451930" y="0"/>
            <a:chExt cx="22129147" cy="5443273"/>
          </a:xfrm>
        </p:grpSpPr>
        <p:sp>
          <p:nvSpPr>
            <p:cNvPr id="11" name="Freeform 11"/>
            <p:cNvSpPr/>
            <p:nvPr/>
          </p:nvSpPr>
          <p:spPr>
            <a:xfrm>
              <a:off x="0" y="0"/>
              <a:ext cx="19456400" cy="1846664"/>
            </a:xfrm>
            <a:custGeom>
              <a:avLst/>
              <a:gdLst/>
              <a:ahLst/>
              <a:cxnLst/>
              <a:rect l="l" t="t" r="r" b="b"/>
              <a:pathLst>
                <a:path w="19456400" h="1846664">
                  <a:moveTo>
                    <a:pt x="0" y="0"/>
                  </a:moveTo>
                  <a:lnTo>
                    <a:pt x="19456400" y="0"/>
                  </a:lnTo>
                  <a:lnTo>
                    <a:pt x="19456400" y="1846664"/>
                  </a:lnTo>
                  <a:lnTo>
                    <a:pt x="0" y="1846664"/>
                  </a:lnTo>
                  <a:close/>
                </a:path>
              </a:pathLst>
            </a:custGeom>
            <a:blipFill>
              <a:blip r:embed="rId5">
                <a:alphaModFix amt="0"/>
              </a:blip>
              <a:stretch>
                <a:fillRect t="-155294" b="-155293"/>
              </a:stretch>
            </a:blipFill>
          </p:spPr>
        </p:sp>
        <p:sp>
          <p:nvSpPr>
            <p:cNvPr id="12" name="TextBox 12"/>
            <p:cNvSpPr txBox="1"/>
            <p:nvPr/>
          </p:nvSpPr>
          <p:spPr>
            <a:xfrm>
              <a:off x="-2451930" y="3577563"/>
              <a:ext cx="22129147" cy="1865710"/>
            </a:xfrm>
            <a:prstGeom prst="rect">
              <a:avLst/>
            </a:prstGeom>
          </p:spPr>
          <p:txBody>
            <a:bodyPr lIns="0" tIns="0" rIns="0" bIns="0" rtlCol="0" anchor="ctr"/>
            <a:lstStyle/>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Call volume increases sharply after early morning hours</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Highest call traffic occurs during daytime working hours</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Call volume drops significantly during late night hours</a:t>
              </a:r>
            </a:p>
          </p:txBody>
        </p:sp>
      </p:grpSp>
      <p:sp>
        <p:nvSpPr>
          <p:cNvPr id="13" name="TextBox 12"/>
          <p:cNvSpPr txBox="1"/>
          <p:nvPr/>
        </p:nvSpPr>
        <p:spPr>
          <a:xfrm>
            <a:off x="9525000" y="2778550"/>
            <a:ext cx="4679945" cy="461665"/>
          </a:xfrm>
          <a:prstGeom prst="rect">
            <a:avLst/>
          </a:prstGeom>
          <a:noFill/>
        </p:spPr>
        <p:txBody>
          <a:bodyPr wrap="square" rtlCol="0">
            <a:spAutoFit/>
          </a:bodyPr>
          <a:lstStyle/>
          <a:p>
            <a:r>
              <a:rPr lang="en-GB" sz="2400" b="1" dirty="0" smtClean="0">
                <a:solidFill>
                  <a:srgbClr val="FF0000"/>
                </a:solidFill>
              </a:rPr>
              <a:t>Peak Hour Analysis</a:t>
            </a:r>
            <a:endParaRPr lang="en-IN" sz="2400" b="1" dirty="0">
              <a:solidFill>
                <a:srgbClr val="FF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68" y="-186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sp>
        <p:nvSpPr>
          <p:cNvPr id="8" name="TextBox 8"/>
          <p:cNvSpPr txBox="1"/>
          <p:nvPr/>
        </p:nvSpPr>
        <p:spPr>
          <a:xfrm>
            <a:off x="1746642" y="1019175"/>
            <a:ext cx="13702522" cy="1209675"/>
          </a:xfrm>
          <a:prstGeom prst="rect">
            <a:avLst/>
          </a:prstGeom>
        </p:spPr>
        <p:txBody>
          <a:bodyPr lIns="0" tIns="0" rIns="0" bIns="0" rtlCol="0" anchor="t">
            <a:spAutoFit/>
          </a:bodyPr>
          <a:lstStyle/>
          <a:p>
            <a:pPr algn="l">
              <a:lnSpc>
                <a:spcPts val="4799"/>
              </a:lnSpc>
            </a:pPr>
            <a:r>
              <a:rPr lang="en-US" sz="3999" b="1">
                <a:solidFill>
                  <a:srgbClr val="C00000"/>
                </a:solidFill>
                <a:latin typeface="Arimo Bold"/>
                <a:ea typeface="Arimo Bold"/>
                <a:cs typeface="Arimo Bold"/>
                <a:sym typeface="Arimo Bold"/>
              </a:rPr>
              <a:t>Call Consultations Drive Maximum Revenue Contribution</a:t>
            </a:r>
          </a:p>
        </p:txBody>
      </p:sp>
      <p:pic>
        <p:nvPicPr>
          <p:cNvPr id="9" name="Picture 9"/>
          <p:cNvPicPr>
            <a:picLocks noChangeAspect="1"/>
          </p:cNvPicPr>
          <p:nvPr/>
        </p:nvPicPr>
        <p:blipFill>
          <a:blip r:embed="rId4"/>
          <a:stretch>
            <a:fillRect/>
          </a:stretch>
        </p:blipFill>
        <p:spPr>
          <a:xfrm>
            <a:off x="1352954" y="3615135"/>
            <a:ext cx="13721547" cy="5460211"/>
          </a:xfrm>
          <a:prstGeom prst="rect">
            <a:avLst/>
          </a:prstGeom>
        </p:spPr>
      </p:pic>
      <p:grpSp>
        <p:nvGrpSpPr>
          <p:cNvPr id="10" name="Group 10"/>
          <p:cNvGrpSpPr/>
          <p:nvPr/>
        </p:nvGrpSpPr>
        <p:grpSpPr>
          <a:xfrm>
            <a:off x="1341534" y="2336792"/>
            <a:ext cx="15102586" cy="1961259"/>
            <a:chOff x="-3043" y="0"/>
            <a:chExt cx="20136782" cy="2615013"/>
          </a:xfrm>
        </p:grpSpPr>
        <p:sp>
          <p:nvSpPr>
            <p:cNvPr id="11" name="Freeform 11"/>
            <p:cNvSpPr/>
            <p:nvPr/>
          </p:nvSpPr>
          <p:spPr>
            <a:xfrm>
              <a:off x="0" y="0"/>
              <a:ext cx="20133739" cy="1784986"/>
            </a:xfrm>
            <a:custGeom>
              <a:avLst/>
              <a:gdLst/>
              <a:ahLst/>
              <a:cxnLst/>
              <a:rect l="l" t="t" r="r" b="b"/>
              <a:pathLst>
                <a:path w="20133739" h="1784986">
                  <a:moveTo>
                    <a:pt x="0" y="0"/>
                  </a:moveTo>
                  <a:lnTo>
                    <a:pt x="20133739" y="0"/>
                  </a:lnTo>
                  <a:lnTo>
                    <a:pt x="20133739" y="1784986"/>
                  </a:lnTo>
                  <a:lnTo>
                    <a:pt x="0" y="1784986"/>
                  </a:lnTo>
                  <a:close/>
                </a:path>
              </a:pathLst>
            </a:custGeom>
            <a:blipFill>
              <a:blip r:embed="rId5">
                <a:alphaModFix amt="0"/>
              </a:blip>
              <a:stretch>
                <a:fillRect t="-168053" b="-171508"/>
              </a:stretch>
            </a:blipFill>
          </p:spPr>
        </p:sp>
        <p:sp>
          <p:nvSpPr>
            <p:cNvPr id="12" name="TextBox 12"/>
            <p:cNvSpPr txBox="1"/>
            <p:nvPr/>
          </p:nvSpPr>
          <p:spPr>
            <a:xfrm>
              <a:off x="-3043" y="810981"/>
              <a:ext cx="20096277" cy="1804032"/>
            </a:xfrm>
            <a:prstGeom prst="rect">
              <a:avLst/>
            </a:prstGeom>
          </p:spPr>
          <p:txBody>
            <a:bodyPr lIns="0" tIns="0" rIns="0" bIns="0" rtlCol="0" anchor="ctr"/>
            <a:lstStyle/>
            <a:p>
              <a:pPr marL="488632" lvl="1" indent="-244316" algn="l">
                <a:lnSpc>
                  <a:spcPts val="3240"/>
                </a:lnSpc>
                <a:buFont typeface="Arial"/>
                <a:buChar char="•"/>
              </a:pPr>
              <a:r>
                <a:rPr lang="en-US" sz="2700" dirty="0">
                  <a:solidFill>
                    <a:srgbClr val="FFFFFF"/>
                  </a:solidFill>
                  <a:latin typeface="Century Gothic" panose="020B0502020202020204" pitchFamily="34" charset="0"/>
                  <a:ea typeface="Arimo"/>
                  <a:cs typeface="Arimo"/>
                  <a:sym typeface="Arimo"/>
                </a:rPr>
                <a:t>Call consultations generate significantly higher revenue than chat</a:t>
              </a:r>
            </a:p>
            <a:p>
              <a:pPr marL="488632" lvl="1" indent="-244316" algn="l">
                <a:lnSpc>
                  <a:spcPts val="3240"/>
                </a:lnSpc>
                <a:buFont typeface="Arial"/>
                <a:buChar char="•"/>
              </a:pPr>
              <a:r>
                <a:rPr lang="en-US" sz="2700" dirty="0">
                  <a:solidFill>
                    <a:srgbClr val="FFFFFF"/>
                  </a:solidFill>
                  <a:latin typeface="Century Gothic" panose="020B0502020202020204" pitchFamily="34" charset="0"/>
                  <a:ea typeface="Arimo"/>
                  <a:cs typeface="Arimo"/>
                  <a:sym typeface="Arimo"/>
                </a:rPr>
                <a:t>Chat consultations contribute moderately to total revenue</a:t>
              </a:r>
            </a:p>
            <a:p>
              <a:pPr marL="452438" lvl="1" indent="-226219" algn="l">
                <a:lnSpc>
                  <a:spcPts val="3000"/>
                </a:lnSpc>
                <a:buFont typeface="Arial"/>
                <a:buChar char="•"/>
              </a:pPr>
              <a:r>
                <a:rPr lang="en-US" sz="2500" dirty="0">
                  <a:solidFill>
                    <a:srgbClr val="FFFFFF"/>
                  </a:solidFill>
                  <a:latin typeface="Century Gothic" panose="020B0502020202020204" pitchFamily="34" charset="0"/>
                  <a:ea typeface="Arimo"/>
                  <a:cs typeface="Arimo"/>
                  <a:sym typeface="Arimo"/>
                </a:rPr>
                <a:t>Complimentary and public live calls add minimal revenue impact</a:t>
              </a: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sp>
        <p:nvSpPr>
          <p:cNvPr id="8" name="Freeform 8"/>
          <p:cNvSpPr/>
          <p:nvPr/>
        </p:nvSpPr>
        <p:spPr>
          <a:xfrm>
            <a:off x="1028700" y="1028700"/>
            <a:ext cx="16230600" cy="6485316"/>
          </a:xfrm>
          <a:custGeom>
            <a:avLst/>
            <a:gdLst/>
            <a:ahLst/>
            <a:cxnLst/>
            <a:rect l="l" t="t" r="r" b="b"/>
            <a:pathLst>
              <a:path w="16230600" h="6485316">
                <a:moveTo>
                  <a:pt x="0" y="0"/>
                </a:moveTo>
                <a:lnTo>
                  <a:pt x="16230600" y="0"/>
                </a:lnTo>
                <a:lnTo>
                  <a:pt x="16230600" y="6485316"/>
                </a:lnTo>
                <a:lnTo>
                  <a:pt x="0" y="6485316"/>
                </a:lnTo>
                <a:lnTo>
                  <a:pt x="0" y="0"/>
                </a:lnTo>
                <a:close/>
              </a:path>
            </a:pathLst>
          </a:custGeom>
          <a:blipFill>
            <a:blip r:embed="rId4"/>
            <a:stretch>
              <a:fillRect t="-56" b="-1614"/>
            </a:stretch>
          </a:blipFill>
        </p:spPr>
      </p:sp>
      <p:sp>
        <p:nvSpPr>
          <p:cNvPr id="9" name="TextBox 9"/>
          <p:cNvSpPr txBox="1"/>
          <p:nvPr/>
        </p:nvSpPr>
        <p:spPr>
          <a:xfrm>
            <a:off x="1028700" y="8101905"/>
            <a:ext cx="16230600" cy="1154162"/>
          </a:xfrm>
          <a:prstGeom prst="rect">
            <a:avLst/>
          </a:prstGeom>
        </p:spPr>
        <p:txBody>
          <a:bodyPr lIns="0" tIns="0" rIns="0" bIns="0" rtlCol="0" anchor="t">
            <a:spAutoFit/>
          </a:bodyPr>
          <a:lstStyle/>
          <a:p>
            <a:pPr>
              <a:lnSpc>
                <a:spcPts val="3000"/>
              </a:lnSpc>
            </a:pPr>
            <a:r>
              <a:rPr lang="en-US" sz="2500" u="sng" dirty="0">
                <a:solidFill>
                  <a:srgbClr val="FFFFFF"/>
                </a:solidFill>
                <a:latin typeface="Arimo"/>
                <a:ea typeface="Arimo"/>
                <a:cs typeface="Arimo"/>
                <a:sym typeface="Arimo"/>
              </a:rPr>
              <a:t>DASHBOARD LINK </a:t>
            </a:r>
            <a:r>
              <a:rPr lang="en-US" sz="2500" u="sng" dirty="0">
                <a:solidFill>
                  <a:srgbClr val="FFFFFF"/>
                </a:solidFill>
                <a:latin typeface="Century Gothic" panose="020B0502020202020204" pitchFamily="34" charset="0"/>
                <a:ea typeface="Arimo"/>
                <a:cs typeface="Arimo"/>
                <a:sym typeface="Arimo"/>
              </a:rPr>
              <a:t>:https://docs.google.com/spreadsheets/d/1S_zEywWjNK7INfri9rksq0s3Z92yHy1O/</a:t>
            </a:r>
            <a:r>
              <a:rPr lang="en-US" sz="2500" u="sng" dirty="0" err="1">
                <a:solidFill>
                  <a:srgbClr val="FFFFFF"/>
                </a:solidFill>
                <a:latin typeface="Century Gothic" panose="020B0502020202020204" pitchFamily="34" charset="0"/>
                <a:ea typeface="Arimo"/>
                <a:cs typeface="Arimo"/>
                <a:sym typeface="Arimo"/>
              </a:rPr>
              <a:t>edit?usp</a:t>
            </a:r>
            <a:r>
              <a:rPr lang="en-US" sz="2500" u="sng" dirty="0">
                <a:solidFill>
                  <a:srgbClr val="FFFFFF"/>
                </a:solidFill>
                <a:latin typeface="Century Gothic" panose="020B0502020202020204" pitchFamily="34" charset="0"/>
                <a:ea typeface="Arimo"/>
                <a:cs typeface="Arimo"/>
                <a:sym typeface="Arimo"/>
              </a:rPr>
              <a:t>=</a:t>
            </a:r>
            <a:r>
              <a:rPr lang="en-US" sz="2500" u="sng" dirty="0" err="1">
                <a:solidFill>
                  <a:srgbClr val="FFFFFF"/>
                </a:solidFill>
                <a:latin typeface="Century Gothic" panose="020B0502020202020204" pitchFamily="34" charset="0"/>
                <a:ea typeface="Arimo"/>
                <a:cs typeface="Arimo"/>
                <a:sym typeface="Arimo"/>
              </a:rPr>
              <a:t>sharing&amp;ouid</a:t>
            </a:r>
            <a:r>
              <a:rPr lang="en-US" sz="2500" u="sng" dirty="0">
                <a:solidFill>
                  <a:srgbClr val="FFFFFF"/>
                </a:solidFill>
                <a:latin typeface="Century Gothic" panose="020B0502020202020204" pitchFamily="34" charset="0"/>
                <a:ea typeface="Arimo"/>
                <a:cs typeface="Arimo"/>
                <a:sym typeface="Arimo"/>
              </a:rPr>
              <a:t>=101248622739799174127&amp;rtpof=</a:t>
            </a:r>
            <a:r>
              <a:rPr lang="en-US" sz="2500" u="sng" dirty="0" err="1">
                <a:solidFill>
                  <a:srgbClr val="FFFFFF"/>
                </a:solidFill>
                <a:latin typeface="Century Gothic" panose="020B0502020202020204" pitchFamily="34" charset="0"/>
                <a:ea typeface="Arimo"/>
                <a:cs typeface="Arimo"/>
                <a:sym typeface="Arimo"/>
              </a:rPr>
              <a:t>true&amp;sd</a:t>
            </a:r>
            <a:r>
              <a:rPr lang="en-US" sz="2500" u="sng" dirty="0">
                <a:solidFill>
                  <a:srgbClr val="FFFFFF"/>
                </a:solidFill>
                <a:latin typeface="Century Gothic" panose="020B0502020202020204" pitchFamily="34" charset="0"/>
                <a:ea typeface="Arimo"/>
                <a:cs typeface="Arimo"/>
                <a:sym typeface="Arimo"/>
              </a:rPr>
              <a:t>=true</a:t>
            </a:r>
            <a:endParaRPr lang="en-US" sz="2500" u="sng" dirty="0">
              <a:solidFill>
                <a:srgbClr val="FFFFFF"/>
              </a:solidFill>
              <a:latin typeface="Century Gothic" panose="020B0502020202020204" pitchFamily="34" charset="0"/>
              <a:ea typeface="Arimo"/>
              <a:cs typeface="Arimo"/>
              <a:sym typeface="Arimo"/>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028700" y="1028700"/>
            <a:ext cx="11862829" cy="1104900"/>
            <a:chOff x="0" y="0"/>
            <a:chExt cx="15817105" cy="1473200"/>
          </a:xfrm>
        </p:grpSpPr>
        <p:sp>
          <p:nvSpPr>
            <p:cNvPr id="9" name="Freeform 9"/>
            <p:cNvSpPr/>
            <p:nvPr/>
          </p:nvSpPr>
          <p:spPr>
            <a:xfrm>
              <a:off x="0" y="0"/>
              <a:ext cx="15817103" cy="1473200"/>
            </a:xfrm>
            <a:custGeom>
              <a:avLst/>
              <a:gdLst/>
              <a:ahLst/>
              <a:cxnLst/>
              <a:rect l="l" t="t" r="r" b="b"/>
              <a:pathLst>
                <a:path w="15817103" h="1473200">
                  <a:moveTo>
                    <a:pt x="0" y="0"/>
                  </a:moveTo>
                  <a:lnTo>
                    <a:pt x="15817103" y="0"/>
                  </a:lnTo>
                  <a:lnTo>
                    <a:pt x="15817103" y="1473200"/>
                  </a:lnTo>
                  <a:lnTo>
                    <a:pt x="0" y="1473200"/>
                  </a:lnTo>
                  <a:close/>
                </a:path>
              </a:pathLst>
            </a:custGeom>
            <a:blipFill>
              <a:blip r:embed="rId4">
                <a:alphaModFix amt="0"/>
              </a:blip>
              <a:stretch>
                <a:fillRect t="-221222" r="-29646" b="-221222"/>
              </a:stretch>
            </a:blipFill>
          </p:spPr>
        </p:sp>
        <p:sp>
          <p:nvSpPr>
            <p:cNvPr id="10" name="TextBox 10"/>
            <p:cNvSpPr txBox="1"/>
            <p:nvPr/>
          </p:nvSpPr>
          <p:spPr>
            <a:xfrm>
              <a:off x="0" y="-19050"/>
              <a:ext cx="15817105" cy="1492250"/>
            </a:xfrm>
            <a:prstGeom prst="rect">
              <a:avLst/>
            </a:prstGeom>
          </p:spPr>
          <p:txBody>
            <a:bodyPr lIns="0" tIns="0" rIns="0" bIns="0" rtlCol="0" anchor="ctr"/>
            <a:lstStyle/>
            <a:p>
              <a:pPr algn="l">
                <a:lnSpc>
                  <a:spcPts val="4800"/>
                </a:lnSpc>
              </a:pPr>
              <a:r>
                <a:rPr lang="en-US" sz="4000" b="1" dirty="0">
                  <a:solidFill>
                    <a:srgbClr val="C00000"/>
                  </a:solidFill>
                  <a:latin typeface="Arimo Bold"/>
                  <a:ea typeface="Arimo Bold"/>
                  <a:cs typeface="Arimo Bold"/>
                  <a:sym typeface="Arimo Bold"/>
                </a:rPr>
                <a:t>STRATEGIC RECOMMENDATION</a:t>
              </a:r>
            </a:p>
          </p:txBody>
        </p:sp>
      </p:grpSp>
      <p:sp>
        <p:nvSpPr>
          <p:cNvPr id="11" name="TextBox 11"/>
          <p:cNvSpPr txBox="1"/>
          <p:nvPr/>
        </p:nvSpPr>
        <p:spPr>
          <a:xfrm>
            <a:off x="1195857" y="2838969"/>
            <a:ext cx="14402596" cy="5309146"/>
          </a:xfrm>
          <a:prstGeom prst="rect">
            <a:avLst/>
          </a:prstGeom>
        </p:spPr>
        <p:txBody>
          <a:bodyPr lIns="0" tIns="0" rIns="0" bIns="0" rtlCol="0" anchor="t">
            <a:spAutoFit/>
          </a:bodyPr>
          <a:lstStyle/>
          <a:p>
            <a:pPr algn="l">
              <a:lnSpc>
                <a:spcPts val="2156"/>
              </a:lnSpc>
            </a:pPr>
            <a:r>
              <a:rPr lang="en-US" sz="2218" b="1" dirty="0">
                <a:solidFill>
                  <a:srgbClr val="FFFFFF"/>
                </a:solidFill>
                <a:latin typeface="Century Gothic" panose="020B0502020202020204" pitchFamily="34" charset="0"/>
                <a:ea typeface="Century Gothic Paneuropean Bold"/>
                <a:cs typeface="Century Gothic Paneuropean Bold"/>
                <a:sym typeface="Century Gothic Paneuropean Bold"/>
              </a:rPr>
              <a:t>Strategic Recommendations</a:t>
            </a:r>
          </a:p>
          <a:p>
            <a:pPr algn="l">
              <a:lnSpc>
                <a:spcPts val="1770"/>
              </a:lnSpc>
            </a:pPr>
            <a:endParaRPr lang="en-US" sz="2218" b="1" dirty="0">
              <a:solidFill>
                <a:srgbClr val="FFFFFF"/>
              </a:solidFill>
              <a:latin typeface="Century Gothic" panose="020B0502020202020204" pitchFamily="34" charset="0"/>
              <a:ea typeface="Century Gothic Paneuropean Bold"/>
              <a:cs typeface="Century Gothic Paneuropean Bold"/>
              <a:sym typeface="Century Gothic Paneuropean Bold"/>
            </a:endParaRPr>
          </a:p>
          <a:p>
            <a:pPr marL="401480" lvl="1" indent="-200740"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Implement Advanced Analytics</a:t>
            </a:r>
          </a:p>
          <a:p>
            <a:pPr algn="l">
              <a:lnSpc>
                <a:spcPts val="2156"/>
              </a:lnSpc>
            </a:pPr>
            <a:endParaRPr lang="en-US" sz="2218" dirty="0">
              <a:solidFill>
                <a:srgbClr val="FFFFFF"/>
              </a:solidFill>
              <a:latin typeface="Century Gothic" panose="020B0502020202020204" pitchFamily="34" charset="0"/>
              <a:ea typeface="Arimo"/>
              <a:cs typeface="Arimo"/>
              <a:sym typeface="Arimo"/>
            </a:endParaRPr>
          </a:p>
          <a:p>
            <a:pPr marL="1010649" lvl="2" indent="-336883"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Use AI-driven tools to analyze call data for trends, customer behavior, and agent performance.</a:t>
            </a:r>
          </a:p>
          <a:p>
            <a:pPr marL="1010649" lvl="2" indent="-336883"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Expected Impact: Better insights into customer needs, enabling tailored service, which enhances    </a:t>
            </a:r>
          </a:p>
          <a:p>
            <a:pPr algn="l">
              <a:lnSpc>
                <a:spcPts val="2156"/>
              </a:lnSpc>
            </a:pPr>
            <a:r>
              <a:rPr lang="en-US" sz="2218" dirty="0">
                <a:solidFill>
                  <a:srgbClr val="FFFFFF"/>
                </a:solidFill>
                <a:latin typeface="Century Gothic" panose="020B0502020202020204" pitchFamily="34" charset="0"/>
                <a:ea typeface="Arimo"/>
                <a:cs typeface="Arimo"/>
                <a:sym typeface="Arimo"/>
              </a:rPr>
              <a:t>     </a:t>
            </a:r>
            <a:r>
              <a:rPr lang="en-US" sz="2218" dirty="0" smtClean="0">
                <a:solidFill>
                  <a:srgbClr val="FFFFFF"/>
                </a:solidFill>
                <a:latin typeface="Century Gothic" panose="020B0502020202020204" pitchFamily="34" charset="0"/>
                <a:ea typeface="Arimo"/>
                <a:cs typeface="Arimo"/>
                <a:sym typeface="Arimo"/>
              </a:rPr>
              <a:t>        satisfaction </a:t>
            </a:r>
            <a:r>
              <a:rPr lang="en-US" sz="2218" dirty="0">
                <a:solidFill>
                  <a:srgbClr val="FFFFFF"/>
                </a:solidFill>
                <a:latin typeface="Century Gothic" panose="020B0502020202020204" pitchFamily="34" charset="0"/>
                <a:ea typeface="Arimo"/>
                <a:cs typeface="Arimo"/>
                <a:sym typeface="Arimo"/>
              </a:rPr>
              <a:t>and loyalty.</a:t>
            </a:r>
          </a:p>
          <a:p>
            <a:pPr marL="1010649" lvl="2" indent="-336883" algn="l">
              <a:lnSpc>
                <a:spcPts val="2156"/>
              </a:lnSpc>
            </a:pPr>
            <a:endParaRPr lang="en-US" sz="2218" dirty="0">
              <a:solidFill>
                <a:srgbClr val="FFFFFF"/>
              </a:solidFill>
              <a:latin typeface="Century Gothic" panose="020B0502020202020204" pitchFamily="34" charset="0"/>
              <a:ea typeface="Arimo"/>
              <a:cs typeface="Arimo"/>
              <a:sym typeface="Arimo"/>
            </a:endParaRPr>
          </a:p>
          <a:p>
            <a:pPr marL="478959" lvl="1" indent="-239480"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Enhance Agent </a:t>
            </a:r>
            <a:r>
              <a:rPr lang="en-US" sz="2218" dirty="0" smtClean="0">
                <a:solidFill>
                  <a:srgbClr val="FFFFFF"/>
                </a:solidFill>
                <a:latin typeface="Century Gothic" panose="020B0502020202020204" pitchFamily="34" charset="0"/>
                <a:ea typeface="Arimo"/>
                <a:cs typeface="Arimo"/>
                <a:sym typeface="Arimo"/>
              </a:rPr>
              <a:t>Training</a:t>
            </a:r>
          </a:p>
          <a:p>
            <a:pPr marL="239479" lvl="1" algn="l">
              <a:lnSpc>
                <a:spcPts val="2156"/>
              </a:lnSpc>
            </a:pPr>
            <a:endParaRPr lang="en-US" sz="2218" dirty="0">
              <a:solidFill>
                <a:srgbClr val="FFFFFF"/>
              </a:solidFill>
              <a:latin typeface="Century Gothic" panose="020B0502020202020204" pitchFamily="34" charset="0"/>
              <a:ea typeface="Arimo"/>
              <a:cs typeface="Arimo"/>
              <a:sym typeface="Arimo"/>
            </a:endParaRPr>
          </a:p>
          <a:p>
            <a:pPr marL="1010649" lvl="2" indent="-336883"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Focus on skills like emotional intelligence, product knowledge, and conflict resolution.</a:t>
            </a:r>
          </a:p>
          <a:p>
            <a:pPr marL="1010604" lvl="2" indent="-336868"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Expected Impact: Improved agent efficiency and a better overall customer experience.</a:t>
            </a:r>
          </a:p>
          <a:p>
            <a:pPr algn="l">
              <a:lnSpc>
                <a:spcPts val="2156"/>
              </a:lnSpc>
            </a:pPr>
            <a:endParaRPr lang="en-US" sz="2218" dirty="0">
              <a:solidFill>
                <a:srgbClr val="FFFFFF"/>
              </a:solidFill>
              <a:latin typeface="Century Gothic" panose="020B0502020202020204" pitchFamily="34" charset="0"/>
              <a:ea typeface="Arimo"/>
              <a:cs typeface="Arimo"/>
              <a:sym typeface="Arimo"/>
            </a:endParaRPr>
          </a:p>
          <a:p>
            <a:pPr marL="478959" lvl="1" indent="-239480"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Optimize Call </a:t>
            </a:r>
            <a:r>
              <a:rPr lang="en-US" sz="2218" dirty="0" smtClean="0">
                <a:solidFill>
                  <a:srgbClr val="FFFFFF"/>
                </a:solidFill>
                <a:latin typeface="Century Gothic" panose="020B0502020202020204" pitchFamily="34" charset="0"/>
                <a:ea typeface="Arimo"/>
                <a:cs typeface="Arimo"/>
                <a:sym typeface="Arimo"/>
              </a:rPr>
              <a:t>Routing</a:t>
            </a:r>
          </a:p>
          <a:p>
            <a:pPr marL="239479" lvl="1" algn="l">
              <a:lnSpc>
                <a:spcPts val="2156"/>
              </a:lnSpc>
            </a:pPr>
            <a:endParaRPr lang="en-US" sz="2218" dirty="0">
              <a:solidFill>
                <a:srgbClr val="FFFFFF"/>
              </a:solidFill>
              <a:latin typeface="Century Gothic" panose="020B0502020202020204" pitchFamily="34" charset="0"/>
              <a:ea typeface="Arimo"/>
              <a:cs typeface="Arimo"/>
              <a:sym typeface="Arimo"/>
            </a:endParaRPr>
          </a:p>
          <a:p>
            <a:pPr marL="1010649" lvl="2" indent="-336883"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Deploy intelligent systems to route calls to the most appropriate agent or department.</a:t>
            </a:r>
          </a:p>
          <a:p>
            <a:pPr marL="1010604" lvl="2" indent="-336868" algn="l">
              <a:lnSpc>
                <a:spcPts val="2156"/>
              </a:lnSpc>
              <a:buAutoNum type="arabicPeriod"/>
            </a:pPr>
            <a:r>
              <a:rPr lang="en-US" sz="2218" dirty="0">
                <a:solidFill>
                  <a:srgbClr val="FFFFFF"/>
                </a:solidFill>
                <a:latin typeface="Century Gothic" panose="020B0502020202020204" pitchFamily="34" charset="0"/>
                <a:ea typeface="Arimo"/>
                <a:cs typeface="Arimo"/>
                <a:sym typeface="Arimo"/>
              </a:rPr>
              <a:t>Expected Impact: Reduced wait times and higher first-call resolution rates, boosting satisfaction.</a:t>
            </a:r>
          </a:p>
          <a:p>
            <a:pPr algn="l">
              <a:lnSpc>
                <a:spcPts val="2156"/>
              </a:lnSpc>
            </a:pPr>
            <a:endParaRPr lang="en-US" sz="2218" dirty="0">
              <a:solidFill>
                <a:srgbClr val="FFFFFF"/>
              </a:solidFill>
              <a:latin typeface="Century Gothic" panose="020B0502020202020204" pitchFamily="34" charset="0"/>
              <a:ea typeface="Arimo"/>
              <a:cs typeface="Arimo"/>
              <a:sym typeface="Arimo"/>
            </a:endParaRPr>
          </a:p>
          <a:p>
            <a:pPr marL="1032079" lvl="2" indent="-344026" algn="l">
              <a:lnSpc>
                <a:spcPts val="2202"/>
              </a:lnSpc>
            </a:pPr>
            <a:endParaRPr lang="en-US" sz="2218" dirty="0">
              <a:solidFill>
                <a:srgbClr val="FFFFFF"/>
              </a:solidFill>
              <a:latin typeface="Arimo"/>
              <a:ea typeface="Arimo"/>
              <a:cs typeface="Arimo"/>
              <a:sym typeface="Arimo"/>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grpSp>
        <p:nvGrpSpPr>
          <p:cNvPr id="8" name="Group 8"/>
          <p:cNvGrpSpPr/>
          <p:nvPr/>
        </p:nvGrpSpPr>
        <p:grpSpPr>
          <a:xfrm>
            <a:off x="1028700" y="1225130"/>
            <a:ext cx="12895936" cy="1165344"/>
            <a:chOff x="0" y="0"/>
            <a:chExt cx="17194581" cy="1553792"/>
          </a:xfrm>
        </p:grpSpPr>
        <p:sp>
          <p:nvSpPr>
            <p:cNvPr id="9" name="Freeform 9"/>
            <p:cNvSpPr/>
            <p:nvPr/>
          </p:nvSpPr>
          <p:spPr>
            <a:xfrm>
              <a:off x="0" y="0"/>
              <a:ext cx="17194581" cy="1553790"/>
            </a:xfrm>
            <a:custGeom>
              <a:avLst/>
              <a:gdLst/>
              <a:ahLst/>
              <a:cxnLst/>
              <a:rect l="l" t="t" r="r" b="b"/>
              <a:pathLst>
                <a:path w="17194581" h="1553790">
                  <a:moveTo>
                    <a:pt x="0" y="0"/>
                  </a:moveTo>
                  <a:lnTo>
                    <a:pt x="17194581" y="0"/>
                  </a:lnTo>
                  <a:lnTo>
                    <a:pt x="17194581" y="1553790"/>
                  </a:lnTo>
                  <a:lnTo>
                    <a:pt x="0" y="1553790"/>
                  </a:lnTo>
                  <a:close/>
                </a:path>
              </a:pathLst>
            </a:custGeom>
            <a:blipFill>
              <a:blip r:embed="rId4">
                <a:alphaModFix amt="0"/>
              </a:blip>
              <a:stretch>
                <a:fillRect t="-165625" b="-165625"/>
              </a:stretch>
            </a:blipFill>
          </p:spPr>
        </p:sp>
        <p:sp>
          <p:nvSpPr>
            <p:cNvPr id="10" name="TextBox 10"/>
            <p:cNvSpPr txBox="1"/>
            <p:nvPr/>
          </p:nvSpPr>
          <p:spPr>
            <a:xfrm>
              <a:off x="0" y="-19050"/>
              <a:ext cx="17194581" cy="1572842"/>
            </a:xfrm>
            <a:prstGeom prst="rect">
              <a:avLst/>
            </a:prstGeom>
          </p:spPr>
          <p:txBody>
            <a:bodyPr lIns="0" tIns="0" rIns="0" bIns="0" rtlCol="0" anchor="ctr"/>
            <a:lstStyle/>
            <a:p>
              <a:pPr algn="l">
                <a:lnSpc>
                  <a:spcPts val="4800"/>
                </a:lnSpc>
              </a:pPr>
              <a:r>
                <a:rPr lang="en-US" sz="4000" b="1">
                  <a:solidFill>
                    <a:srgbClr val="C00000"/>
                  </a:solidFill>
                  <a:latin typeface="Arimo Bold"/>
                  <a:ea typeface="Arimo Bold"/>
                  <a:cs typeface="Arimo Bold"/>
                  <a:sym typeface="Arimo Bold"/>
                </a:rPr>
                <a:t>CONCLUSION</a:t>
              </a:r>
            </a:p>
          </p:txBody>
        </p:sp>
      </p:grpSp>
      <p:grpSp>
        <p:nvGrpSpPr>
          <p:cNvPr id="11" name="Group 11"/>
          <p:cNvGrpSpPr/>
          <p:nvPr/>
        </p:nvGrpSpPr>
        <p:grpSpPr>
          <a:xfrm>
            <a:off x="1028700" y="2594862"/>
            <a:ext cx="10637434" cy="5816410"/>
            <a:chOff x="0" y="0"/>
            <a:chExt cx="14183246" cy="7755214"/>
          </a:xfrm>
        </p:grpSpPr>
        <p:sp>
          <p:nvSpPr>
            <p:cNvPr id="12" name="Freeform 12"/>
            <p:cNvSpPr/>
            <p:nvPr/>
          </p:nvSpPr>
          <p:spPr>
            <a:xfrm>
              <a:off x="0" y="0"/>
              <a:ext cx="14183252" cy="7755211"/>
            </a:xfrm>
            <a:custGeom>
              <a:avLst/>
              <a:gdLst/>
              <a:ahLst/>
              <a:cxnLst/>
              <a:rect l="l" t="t" r="r" b="b"/>
              <a:pathLst>
                <a:path w="14183252" h="7755211">
                  <a:moveTo>
                    <a:pt x="0" y="0"/>
                  </a:moveTo>
                  <a:lnTo>
                    <a:pt x="14183252" y="0"/>
                  </a:lnTo>
                  <a:lnTo>
                    <a:pt x="14183252" y="7755211"/>
                  </a:lnTo>
                  <a:lnTo>
                    <a:pt x="0" y="7755211"/>
                  </a:lnTo>
                  <a:close/>
                </a:path>
              </a:pathLst>
            </a:custGeom>
            <a:blipFill>
              <a:blip r:embed="rId4">
                <a:alphaModFix amt="0"/>
              </a:blip>
              <a:stretch>
                <a:fillRect l="-20154" r="-20154"/>
              </a:stretch>
            </a:blipFill>
          </p:spPr>
        </p:sp>
        <p:sp>
          <p:nvSpPr>
            <p:cNvPr id="13" name="TextBox 13"/>
            <p:cNvSpPr txBox="1"/>
            <p:nvPr/>
          </p:nvSpPr>
          <p:spPr>
            <a:xfrm>
              <a:off x="0" y="-19050"/>
              <a:ext cx="14183246" cy="7774264"/>
            </a:xfrm>
            <a:prstGeom prst="rect">
              <a:avLst/>
            </a:prstGeom>
          </p:spPr>
          <p:txBody>
            <a:bodyPr lIns="0" tIns="0" rIns="0" bIns="0" rtlCol="0" anchor="ctr"/>
            <a:lstStyle/>
            <a:p>
              <a:pPr algn="l">
                <a:lnSpc>
                  <a:spcPts val="3000"/>
                </a:lnSpc>
              </a:pPr>
              <a:r>
                <a:rPr lang="en-US" sz="2500" dirty="0">
                  <a:solidFill>
                    <a:srgbClr val="FFFFFF"/>
                  </a:solidFill>
                  <a:latin typeface="Century Gothic" panose="020B0502020202020204" pitchFamily="34" charset="0"/>
                  <a:ea typeface="Arimo"/>
                  <a:cs typeface="Arimo"/>
                  <a:sym typeface="Arimo"/>
                </a:rPr>
                <a:t>In conclusion, a detailed analysis of our call center operations reveals opportunities to enhance customer satisfaction, streamline processes, and improve efficiency.</a:t>
              </a:r>
            </a:p>
            <a:p>
              <a:pPr algn="l">
                <a:lnSpc>
                  <a:spcPts val="3000"/>
                </a:lnSpc>
              </a:pPr>
              <a:endParaRPr lang="en-US" sz="2500" dirty="0">
                <a:solidFill>
                  <a:srgbClr val="FFFFFF"/>
                </a:solidFill>
                <a:latin typeface="Century Gothic" panose="020B0502020202020204" pitchFamily="34" charset="0"/>
                <a:ea typeface="Arimo"/>
                <a:cs typeface="Arimo"/>
                <a:sym typeface="Arimo"/>
              </a:endParaRPr>
            </a:p>
            <a:p>
              <a:pPr algn="l">
                <a:lnSpc>
                  <a:spcPts val="3000"/>
                </a:lnSpc>
              </a:pPr>
              <a:r>
                <a:rPr lang="en-US" sz="2500" dirty="0">
                  <a:solidFill>
                    <a:srgbClr val="FFFFFF"/>
                  </a:solidFill>
                  <a:latin typeface="Century Gothic" panose="020B0502020202020204" pitchFamily="34" charset="0"/>
                  <a:ea typeface="Arimo"/>
                  <a:cs typeface="Arimo"/>
                  <a:sym typeface="Arimo"/>
                </a:rPr>
                <a:t>By leveraging these insights and adopting the recommended strategies, we can position our call center as a model of excellence. </a:t>
              </a:r>
            </a:p>
            <a:p>
              <a:pPr algn="l">
                <a:lnSpc>
                  <a:spcPts val="3000"/>
                </a:lnSpc>
              </a:pPr>
              <a:endParaRPr lang="en-US" sz="2500" dirty="0">
                <a:solidFill>
                  <a:srgbClr val="FFFFFF"/>
                </a:solidFill>
                <a:latin typeface="Century Gothic" panose="020B0502020202020204" pitchFamily="34" charset="0"/>
                <a:ea typeface="Arimo"/>
                <a:cs typeface="Arimo"/>
                <a:sym typeface="Arimo"/>
              </a:endParaRPr>
            </a:p>
            <a:p>
              <a:pPr algn="l">
                <a:lnSpc>
                  <a:spcPts val="3000"/>
                </a:lnSpc>
              </a:pPr>
              <a:r>
                <a:rPr lang="en-US" sz="2500" dirty="0">
                  <a:solidFill>
                    <a:srgbClr val="FFFFFF"/>
                  </a:solidFill>
                  <a:latin typeface="Century Gothic" panose="020B0502020202020204" pitchFamily="34" charset="0"/>
                  <a:ea typeface="Arimo"/>
                  <a:cs typeface="Arimo"/>
                  <a:sym typeface="Arimo"/>
                </a:rPr>
                <a:t>Thank you for your attention, and I look forward to any questions or further discussions.</a:t>
              </a:r>
            </a:p>
          </p:txBody>
        </p:sp>
      </p:grpSp>
      <p:grpSp>
        <p:nvGrpSpPr>
          <p:cNvPr id="14" name="Group 14"/>
          <p:cNvGrpSpPr/>
          <p:nvPr/>
        </p:nvGrpSpPr>
        <p:grpSpPr>
          <a:xfrm>
            <a:off x="11829084" y="2948005"/>
            <a:ext cx="5430216" cy="4701348"/>
            <a:chOff x="0" y="0"/>
            <a:chExt cx="7240288" cy="6268464"/>
          </a:xfrm>
        </p:grpSpPr>
        <p:sp>
          <p:nvSpPr>
            <p:cNvPr id="15" name="Freeform 15"/>
            <p:cNvSpPr/>
            <p:nvPr/>
          </p:nvSpPr>
          <p:spPr>
            <a:xfrm>
              <a:off x="14233" y="12450"/>
              <a:ext cx="7211902" cy="6243495"/>
            </a:xfrm>
            <a:custGeom>
              <a:avLst/>
              <a:gdLst/>
              <a:ahLst/>
              <a:cxnLst/>
              <a:rect l="l" t="t" r="r" b="b"/>
              <a:pathLst>
                <a:path w="7211902" h="6243495">
                  <a:moveTo>
                    <a:pt x="0" y="1040582"/>
                  </a:moveTo>
                  <a:cubicBezTo>
                    <a:pt x="0" y="465911"/>
                    <a:pt x="532646" y="0"/>
                    <a:pt x="1189743" y="0"/>
                  </a:cubicBezTo>
                  <a:lnTo>
                    <a:pt x="6022159" y="0"/>
                  </a:lnTo>
                  <a:cubicBezTo>
                    <a:pt x="6679256" y="0"/>
                    <a:pt x="7211902" y="465911"/>
                    <a:pt x="7211902" y="1040582"/>
                  </a:cubicBezTo>
                  <a:lnTo>
                    <a:pt x="7211902" y="5202913"/>
                  </a:lnTo>
                  <a:cubicBezTo>
                    <a:pt x="7211902" y="5777584"/>
                    <a:pt x="6679256" y="6243495"/>
                    <a:pt x="6022159" y="6243495"/>
                  </a:cubicBezTo>
                  <a:lnTo>
                    <a:pt x="1189743" y="6243495"/>
                  </a:lnTo>
                  <a:cubicBezTo>
                    <a:pt x="532646" y="6243495"/>
                    <a:pt x="0" y="5777584"/>
                    <a:pt x="0" y="5202913"/>
                  </a:cubicBezTo>
                  <a:close/>
                </a:path>
              </a:pathLst>
            </a:custGeom>
            <a:blipFill>
              <a:blip r:embed="rId5">
                <a:alphaModFix amt="68000"/>
              </a:blip>
              <a:stretch>
                <a:fillRect l="-3844" t="-199" r="-3794" b="-200"/>
              </a:stretch>
            </a:blipFill>
          </p:spPr>
        </p:sp>
        <p:sp>
          <p:nvSpPr>
            <p:cNvPr id="16" name="Freeform 16"/>
            <p:cNvSpPr/>
            <p:nvPr/>
          </p:nvSpPr>
          <p:spPr>
            <a:xfrm>
              <a:off x="0" y="0"/>
              <a:ext cx="7240377" cy="6268395"/>
            </a:xfrm>
            <a:custGeom>
              <a:avLst/>
              <a:gdLst/>
              <a:ahLst/>
              <a:cxnLst/>
              <a:rect l="l" t="t" r="r" b="b"/>
              <a:pathLst>
                <a:path w="7240377" h="6268395">
                  <a:moveTo>
                    <a:pt x="0" y="1053032"/>
                  </a:moveTo>
                  <a:cubicBezTo>
                    <a:pt x="0" y="471489"/>
                    <a:pt x="539022" y="0"/>
                    <a:pt x="1203976" y="0"/>
                  </a:cubicBezTo>
                  <a:lnTo>
                    <a:pt x="6036392" y="0"/>
                  </a:lnTo>
                  <a:lnTo>
                    <a:pt x="6036392" y="12450"/>
                  </a:lnTo>
                  <a:lnTo>
                    <a:pt x="6036392" y="0"/>
                  </a:lnTo>
                  <a:lnTo>
                    <a:pt x="6036392" y="12450"/>
                  </a:lnTo>
                  <a:lnTo>
                    <a:pt x="6036392" y="0"/>
                  </a:lnTo>
                  <a:cubicBezTo>
                    <a:pt x="6701346" y="0"/>
                    <a:pt x="7240377" y="471489"/>
                    <a:pt x="7240377" y="1053032"/>
                  </a:cubicBezTo>
                  <a:lnTo>
                    <a:pt x="7240377" y="5215363"/>
                  </a:lnTo>
                  <a:lnTo>
                    <a:pt x="7226135" y="5215363"/>
                  </a:lnTo>
                  <a:lnTo>
                    <a:pt x="7240377" y="5215363"/>
                  </a:lnTo>
                  <a:cubicBezTo>
                    <a:pt x="7240377" y="5796906"/>
                    <a:pt x="6701346" y="6268395"/>
                    <a:pt x="6036392" y="6268395"/>
                  </a:cubicBezTo>
                  <a:lnTo>
                    <a:pt x="6036392" y="6255945"/>
                  </a:lnTo>
                  <a:lnTo>
                    <a:pt x="6036392" y="6268395"/>
                  </a:lnTo>
                  <a:lnTo>
                    <a:pt x="1203976" y="6268395"/>
                  </a:lnTo>
                  <a:lnTo>
                    <a:pt x="1203976" y="6255945"/>
                  </a:lnTo>
                  <a:lnTo>
                    <a:pt x="1203976" y="6268395"/>
                  </a:lnTo>
                  <a:cubicBezTo>
                    <a:pt x="539022" y="6268503"/>
                    <a:pt x="0" y="5797005"/>
                    <a:pt x="0" y="5215363"/>
                  </a:cubicBezTo>
                  <a:lnTo>
                    <a:pt x="0" y="1053032"/>
                  </a:lnTo>
                  <a:lnTo>
                    <a:pt x="14233" y="1053032"/>
                  </a:lnTo>
                  <a:lnTo>
                    <a:pt x="0" y="1053032"/>
                  </a:lnTo>
                  <a:moveTo>
                    <a:pt x="28465" y="1053032"/>
                  </a:moveTo>
                  <a:lnTo>
                    <a:pt x="28465" y="5215363"/>
                  </a:lnTo>
                  <a:lnTo>
                    <a:pt x="14233" y="5215363"/>
                  </a:lnTo>
                  <a:lnTo>
                    <a:pt x="28465" y="5215363"/>
                  </a:lnTo>
                  <a:cubicBezTo>
                    <a:pt x="28465" y="5783161"/>
                    <a:pt x="554735" y="6243495"/>
                    <a:pt x="1203976" y="6243495"/>
                  </a:cubicBezTo>
                  <a:lnTo>
                    <a:pt x="6036392" y="6243495"/>
                  </a:lnTo>
                  <a:cubicBezTo>
                    <a:pt x="6685633" y="6243495"/>
                    <a:pt x="7211902" y="5783161"/>
                    <a:pt x="7211902" y="5215363"/>
                  </a:cubicBezTo>
                  <a:lnTo>
                    <a:pt x="7211902" y="1053032"/>
                  </a:lnTo>
                  <a:lnTo>
                    <a:pt x="7226135" y="1053032"/>
                  </a:lnTo>
                  <a:lnTo>
                    <a:pt x="7211902" y="1053032"/>
                  </a:lnTo>
                  <a:cubicBezTo>
                    <a:pt x="7211788" y="485233"/>
                    <a:pt x="6685518" y="24899"/>
                    <a:pt x="6036392" y="24899"/>
                  </a:cubicBezTo>
                  <a:lnTo>
                    <a:pt x="1203976" y="24899"/>
                  </a:lnTo>
                  <a:lnTo>
                    <a:pt x="1203976" y="12450"/>
                  </a:lnTo>
                  <a:lnTo>
                    <a:pt x="1203976" y="24899"/>
                  </a:lnTo>
                  <a:cubicBezTo>
                    <a:pt x="554735" y="24899"/>
                    <a:pt x="28465" y="485233"/>
                    <a:pt x="28465" y="1053032"/>
                  </a:cubicBezTo>
                  <a:close/>
                </a:path>
              </a:pathLst>
            </a:custGeom>
            <a:solidFill>
              <a:srgbClr val="011524"/>
            </a:solidFill>
          </p:spPr>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rot="8100000">
            <a:off x="16620344" y="5124850"/>
            <a:ext cx="1956578" cy="0"/>
          </a:xfrm>
          <a:prstGeom prst="line">
            <a:avLst/>
          </a:prstGeom>
          <a:ln w="9525" cap="rnd">
            <a:solidFill>
              <a:srgbClr val="FFFFFF"/>
            </a:solidFill>
            <a:prstDash val="solid"/>
            <a:headEnd type="none" w="sm" len="sm"/>
            <a:tailEnd type="none" w="sm" len="sm"/>
          </a:ln>
        </p:spPr>
      </p:sp>
      <p:sp>
        <p:nvSpPr>
          <p:cNvPr id="4" name="AutoShape 4"/>
          <p:cNvSpPr/>
          <p:nvPr/>
        </p:nvSpPr>
        <p:spPr>
          <a:xfrm rot="8100000">
            <a:off x="12874009" y="7017144"/>
            <a:ext cx="6345679" cy="0"/>
          </a:xfrm>
          <a:prstGeom prst="line">
            <a:avLst/>
          </a:prstGeom>
          <a:ln w="9525" cap="rnd">
            <a:solidFill>
              <a:srgbClr val="FFFFFF"/>
            </a:solidFill>
            <a:prstDash val="solid"/>
            <a:headEnd type="none" w="sm" len="sm"/>
            <a:tailEnd type="none" w="sm" len="sm"/>
          </a:ln>
        </p:spPr>
      </p:sp>
      <p:sp>
        <p:nvSpPr>
          <p:cNvPr id="5" name="AutoShape 5"/>
          <p:cNvSpPr/>
          <p:nvPr/>
        </p:nvSpPr>
        <p:spPr>
          <a:xfrm rot="8100000">
            <a:off x="14839159" y="6345241"/>
            <a:ext cx="4043362" cy="0"/>
          </a:xfrm>
          <a:prstGeom prst="line">
            <a:avLst/>
          </a:prstGeom>
          <a:ln w="9525" cap="rnd">
            <a:solidFill>
              <a:srgbClr val="FFFFFF"/>
            </a:solidFill>
            <a:prstDash val="solid"/>
            <a:headEnd type="none" w="sm" len="sm"/>
            <a:tailEnd type="none" w="sm" len="sm"/>
          </a:ln>
        </p:spPr>
      </p:sp>
      <p:sp>
        <p:nvSpPr>
          <p:cNvPr id="6" name="AutoShape 6"/>
          <p:cNvSpPr/>
          <p:nvPr/>
        </p:nvSpPr>
        <p:spPr>
          <a:xfrm rot="8100000">
            <a:off x="15092020" y="5996388"/>
            <a:ext cx="3763851" cy="0"/>
          </a:xfrm>
          <a:prstGeom prst="line">
            <a:avLst/>
          </a:prstGeom>
          <a:ln w="19050" cap="rnd">
            <a:solidFill>
              <a:srgbClr val="FFFFFF"/>
            </a:solidFill>
            <a:prstDash val="solid"/>
            <a:headEnd type="none" w="sm" len="sm"/>
            <a:tailEnd type="none" w="sm" len="sm"/>
          </a:ln>
        </p:spPr>
      </p:sp>
      <p:sp>
        <p:nvSpPr>
          <p:cNvPr id="7" name="AutoShape 7"/>
          <p:cNvSpPr/>
          <p:nvPr/>
        </p:nvSpPr>
        <p:spPr>
          <a:xfrm rot="8100000">
            <a:off x="15953394" y="6467475"/>
            <a:ext cx="2754697" cy="0"/>
          </a:xfrm>
          <a:prstGeom prst="line">
            <a:avLst/>
          </a:prstGeom>
          <a:ln w="19050" cap="rnd">
            <a:solidFill>
              <a:srgbClr val="FFFFFF"/>
            </a:solidFill>
            <a:prstDash val="solid"/>
            <a:headEnd type="none" w="sm" len="sm"/>
            <a:tailEnd type="none" w="sm" len="sm"/>
          </a:ln>
        </p:spPr>
      </p:sp>
      <p:sp>
        <p:nvSpPr>
          <p:cNvPr id="8" name="Freeform 8"/>
          <p:cNvSpPr/>
          <p:nvPr/>
        </p:nvSpPr>
        <p:spPr>
          <a:xfrm>
            <a:off x="2730327" y="1028700"/>
            <a:ext cx="12157820" cy="8139720"/>
          </a:xfrm>
          <a:custGeom>
            <a:avLst/>
            <a:gdLst/>
            <a:ahLst/>
            <a:cxnLst/>
            <a:rect l="l" t="t" r="r" b="b"/>
            <a:pathLst>
              <a:path w="12157820" h="8139720">
                <a:moveTo>
                  <a:pt x="0" y="0"/>
                </a:moveTo>
                <a:lnTo>
                  <a:pt x="12157820" y="0"/>
                </a:lnTo>
                <a:lnTo>
                  <a:pt x="12157820" y="8139720"/>
                </a:lnTo>
                <a:lnTo>
                  <a:pt x="0" y="8139720"/>
                </a:lnTo>
                <a:lnTo>
                  <a:pt x="0" y="0"/>
                </a:lnTo>
                <a:close/>
              </a:path>
            </a:pathLst>
          </a:custGeom>
          <a:blipFill>
            <a:blip r:embed="rId4"/>
            <a:stretch>
              <a:fillRect t="-24465" b="-36653"/>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666</TotalTime>
  <Words>904</Words>
  <Application>Microsoft Office PowerPoint</Application>
  <PresentationFormat>Custom</PresentationFormat>
  <Paragraphs>129</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Arimo</vt:lpstr>
      <vt:lpstr>Arial</vt:lpstr>
      <vt:lpstr>Century Gothic Paneuropean Bold</vt:lpstr>
      <vt:lpstr>Arimo Bold</vt:lpstr>
      <vt:lpstr>Century Gothic Paneuropean</vt:lpstr>
      <vt:lpstr>Century Gothic</vt:lpstr>
      <vt:lpstr>Calibri (MS)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MDSADIQ(PPT)1.pptx</dc:title>
  <dc:creator>Sadiq Mohammed</dc:creator>
  <cp:lastModifiedBy>Sadiq Mohammed</cp:lastModifiedBy>
  <cp:revision>10</cp:revision>
  <dcterms:created xsi:type="dcterms:W3CDTF">2006-08-16T00:00:00Z</dcterms:created>
  <dcterms:modified xsi:type="dcterms:W3CDTF">2026-02-19T03:38:23Z</dcterms:modified>
  <dc:identifier>DAHBkbIgrUY</dc:identifier>
</cp:coreProperties>
</file>